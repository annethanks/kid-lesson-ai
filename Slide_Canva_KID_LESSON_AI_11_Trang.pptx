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rial"/>
              </a:defRPr>
            </a:pPr>
            <a:r>
              <a:t>BỘ GIÁO DỤC VÀ ĐÀO TẠO  •  RMIT UNIVERSITY  •  Diễn đàn Đổi mới sáng tạo Giáo dục Việt Nam với AI</a:t>
            </a:r>
          </a:p>
          <a:p>
            <a:pPr algn="ctr">
              <a:defRPr sz="1700" b="1">
                <a:solidFill>
                  <a:srgbClr val="FFFFFF"/>
                </a:solidFill>
                <a:latin typeface="Arial"/>
              </a:defRPr>
            </a:pPr>
            <a:r>
              <a:t>GIẢI THƯỞNG TIÊN PHONG ỨNG DỤNG AI TRONG GIÁO DỤC VIỆT NAM 2026</a:t>
            </a:r>
          </a:p>
          <a:p>
            <a:pPr algn="ctr">
              <a:defRPr sz="1200">
                <a:solidFill>
                  <a:srgbClr val="93C5FD"/>
                </a:solidFill>
                <a:latin typeface="Arial"/>
              </a:defRPr>
            </a:pPr>
            <a:r>
              <a:t>HỒ SƠ SẢN PHẨM THAM GIA</a:t>
            </a:r>
          </a:p>
        </p:txBody>
      </p:sp>
      <p:sp>
        <p:nvSpPr>
          <p:cNvPr id="3" name="TextBox 2"/>
          <p:cNvSpPr txBox="1"/>
          <p:nvPr/>
        </p:nvSpPr>
        <p:spPr>
          <a:xfrm>
            <a:off x="731520" y="2194560"/>
            <a:ext cx="10728655" cy="1920240"/>
          </a:xfrm>
          <a:prstGeom prst="rect">
            <a:avLst/>
          </a:prstGeom>
          <a:noFill/>
        </p:spPr>
        <p:txBody>
          <a:bodyPr wrap="square">
            <a:spAutoFit/>
          </a:bodyPr>
          <a:lstStyle/>
          <a:p>
            <a:pPr algn="ctr">
              <a:defRPr sz="4000" b="1">
                <a:solidFill>
                  <a:srgbClr val="0A194D"/>
                </a:solidFill>
                <a:latin typeface="Arial"/>
              </a:defRPr>
            </a:pPr>
            <a:r>
              <a:t>KID-LESSON AI</a:t>
            </a:r>
          </a:p>
          <a:p>
            <a:pPr algn="ctr">
              <a:defRPr sz="1300" b="1">
                <a:solidFill>
                  <a:srgbClr val="1E293B"/>
                </a:solidFill>
                <a:latin typeface="Arial"/>
              </a:defRPr>
            </a:pPr>
            <a:r>
              <a:t>HỆ THỐNG TRỢ LÝ TRÍ TUỆ NHÂN TẠO TẠO SINH TRONG XÂY DỰNG KẾ HOẠCH BÀI DẠY (GIÁO ÁN) ĐIỆN TỬ</a:t>
            </a:r>
            <a:br/>
            <a:r>
              <a:t>VÀ KHO HỌC LIỆU SỐ ĐA PHƯƠNG TIỆN CHO GIÁO VIÊN MẦM NON</a:t>
            </a:r>
          </a:p>
        </p:txBody>
      </p:sp>
      <p:sp>
        <p:nvSpPr>
          <p:cNvPr id="4" name="Rectangle 3"/>
          <p:cNvSpPr/>
          <p:nvPr/>
        </p:nvSpPr>
        <p:spPr>
          <a:xfrm>
            <a:off x="731520" y="4297680"/>
            <a:ext cx="10728655" cy="210312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480560"/>
            <a:ext cx="4572000" cy="1737360"/>
          </a:xfrm>
          <a:prstGeom prst="rect">
            <a:avLst/>
          </a:prstGeom>
          <a:noFill/>
        </p:spPr>
        <p:txBody>
          <a:bodyPr wrap="square">
            <a:spAutoFit/>
          </a:bodyPr>
          <a:lstStyle/>
          <a:p>
            <a:pPr>
              <a:defRPr sz="1300">
                <a:solidFill>
                  <a:srgbClr val="93C5FD"/>
                </a:solidFill>
                <a:latin typeface="Arial"/>
              </a:defRPr>
            </a:pPr>
            <a:r>
              <a:t>Giáo viên thực hiện:</a:t>
            </a:r>
          </a:p>
          <a:p>
            <a:pPr>
              <a:defRPr sz="1700" b="1">
                <a:solidFill>
                  <a:srgbClr val="FFFFFF"/>
                </a:solidFill>
                <a:latin typeface="Arial"/>
              </a:defRPr>
            </a:pPr>
            <a:r>
              <a:t>Cô Nguyễn Thị Mai &amp; Tổ Chuyên môn</a:t>
            </a:r>
          </a:p>
          <a:p>
            <a:pPr>
              <a:defRPr sz="1200">
                <a:solidFill>
                  <a:srgbClr val="E2E8F0"/>
                </a:solidFill>
                <a:latin typeface="Arial"/>
              </a:defRPr>
            </a:pPr>
            <a:r>
              <a:t>Bảng A: Khối Mầm non &amp; Tiểu học</a:t>
            </a:r>
          </a:p>
        </p:txBody>
      </p:sp>
      <p:sp>
        <p:nvSpPr>
          <p:cNvPr id="6" name="TextBox 5"/>
          <p:cNvSpPr txBox="1"/>
          <p:nvPr/>
        </p:nvSpPr>
        <p:spPr>
          <a:xfrm>
            <a:off x="6217920" y="4480560"/>
            <a:ext cx="5029200" cy="1737360"/>
          </a:xfrm>
          <a:prstGeom prst="rect">
            <a:avLst/>
          </a:prstGeom>
          <a:noFill/>
        </p:spPr>
        <p:txBody>
          <a:bodyPr wrap="square">
            <a:spAutoFit/>
          </a:bodyPr>
          <a:lstStyle/>
          <a:p>
            <a:pPr>
              <a:defRPr sz="1300" b="1">
                <a:solidFill>
                  <a:srgbClr val="FFFFFF"/>
                </a:solidFill>
                <a:latin typeface="Arial"/>
              </a:defRPr>
            </a:pPr>
            <a:r>
              <a:t>Đơn vị công tác:</a:t>
            </a:r>
          </a:p>
          <a:p>
            <a:pPr>
              <a:defRPr sz="1200">
                <a:solidFill>
                  <a:srgbClr val="E2E8F0"/>
                </a:solidFill>
                <a:latin typeface="Arial"/>
              </a:defRPr>
            </a:pPr>
            <a:r>
              <a:t>Trường Mầm non Phúc Sơn B</a:t>
            </a:r>
            <a:br/>
            <a:r>
              <a:t>UBND xã Phúc Sơn, huyện Tân Yên, tỉnh Bắc Giang</a:t>
            </a:r>
          </a:p>
          <a:p>
            <a:pPr>
              <a:defRPr sz="1200">
                <a:solidFill>
                  <a:srgbClr val="93C5FD"/>
                </a:solidFill>
                <a:latin typeface="Arial"/>
              </a:defRPr>
            </a:pPr>
            <a:r>
              <a:t>Email: c0phucsonbtn@bacgiang.edu.vn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00800"/>
            <a:ext cx="12191695" cy="45720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rIns="731520"/>
          <a:lstStyle/>
          <a:p>
            <a:pPr algn="r">
              <a:defRPr sz="1100" b="1">
                <a:solidFill>
                  <a:srgbClr val="FFFFFF"/>
                </a:solidFill>
                <a:latin typeface="Arial"/>
              </a:defRPr>
            </a:pPr>
            <a:r>
              <a:t>Giải Thưởng Tiên Phong Ứng Dụng AI Trong Giáo Dục Việt Nam 2026</a:t>
            </a:r>
          </a:p>
        </p:txBody>
      </p:sp>
      <p:sp>
        <p:nvSpPr>
          <p:cNvPr id="3" name="Rectangle 2"/>
          <p:cNvSpPr/>
          <p:nvPr/>
        </p:nvSpPr>
        <p:spPr>
          <a:xfrm>
            <a:off x="0" y="0"/>
            <a:ext cx="4754880" cy="640080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731520"/>
            <a:ext cx="3291840" cy="4937760"/>
          </a:xfrm>
          <a:prstGeom prst="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solidFill>
                  <a:srgbClr val="475569"/>
                </a:solidFill>
                <a:latin typeface="Arial"/>
              </a:defRPr>
            </a:pPr>
            <a:r>
              <a:t>[Hình ảnh minh họa</a:t>
            </a:r>
            <a:br/>
            <a:r>
              <a:t>giao diện ứng dụng</a:t>
            </a:r>
            <a:br/>
            <a:r>
              <a:t>KID-LESSON AI]</a:t>
            </a:r>
          </a:p>
        </p:txBody>
      </p:sp>
      <p:sp>
        <p:nvSpPr>
          <p:cNvPr id="5" name="TextBox 4"/>
          <p:cNvSpPr txBox="1"/>
          <p:nvPr/>
        </p:nvSpPr>
        <p:spPr>
          <a:xfrm>
            <a:off x="5303520" y="731520"/>
            <a:ext cx="6217920" cy="5303520"/>
          </a:xfrm>
          <a:prstGeom prst="rect">
            <a:avLst/>
          </a:prstGeom>
          <a:noFill/>
        </p:spPr>
        <p:txBody>
          <a:bodyPr wrap="square">
            <a:spAutoFit/>
          </a:bodyPr>
          <a:lstStyle/>
          <a:p>
            <a:pPr>
              <a:defRPr sz="3200" b="1">
                <a:solidFill>
                  <a:srgbClr val="0A194D"/>
                </a:solidFill>
                <a:latin typeface="Arial"/>
              </a:defRPr>
            </a:pPr>
            <a:r>
              <a:t>DÀN Ý SLIDE</a:t>
            </a:r>
          </a:p>
          <a:p>
            <a:pPr>
              <a:defRPr sz="1500" b="1">
                <a:solidFill>
                  <a:srgbClr val="1E293B"/>
                </a:solidFill>
                <a:latin typeface="Arial"/>
              </a:defRPr>
            </a:pPr>
            <a:r>
              <a:t>• Phần 1: Bối cảnh và Vấn đề</a:t>
            </a:r>
          </a:p>
          <a:p>
            <a:pPr>
              <a:defRPr sz="1100">
                <a:solidFill>
                  <a:srgbClr val="475569"/>
                </a:solidFill>
                <a:latin typeface="Arial"/>
              </a:defRPr>
            </a:pPr>
            <a:r>
              <a:t>    Nghịch lý sổ sách hành chính và khó khăn học liệu mầm non</a:t>
            </a:r>
          </a:p>
          <a:p>
            <a:pPr>
              <a:defRPr sz="1500" b="1">
                <a:solidFill>
                  <a:srgbClr val="1E293B"/>
                </a:solidFill>
                <a:latin typeface="Arial"/>
              </a:defRPr>
            </a:pPr>
            <a:r>
              <a:t>• Phần 2: Ý tưởng và Giải pháp AI</a:t>
            </a:r>
          </a:p>
          <a:p>
            <a:pPr>
              <a:defRPr sz="1100">
                <a:solidFill>
                  <a:srgbClr val="475569"/>
                </a:solidFill>
                <a:latin typeface="Arial"/>
              </a:defRPr>
            </a:pPr>
            <a:r>
              <a:t>    Trợ lý ảo đồng sáng tạo KHBD 5 bước &amp; Học liệu số</a:t>
            </a:r>
          </a:p>
          <a:p>
            <a:pPr>
              <a:defRPr sz="1500" b="1">
                <a:solidFill>
                  <a:srgbClr val="1E293B"/>
                </a:solidFill>
                <a:latin typeface="Arial"/>
              </a:defRPr>
            </a:pPr>
            <a:r>
              <a:t>• Phần 3: Cách thực hiện giải pháp</a:t>
            </a:r>
          </a:p>
          <a:p>
            <a:pPr>
              <a:defRPr sz="1100">
                <a:solidFill>
                  <a:srgbClr val="475569"/>
                </a:solidFill>
                <a:latin typeface="Arial"/>
              </a:defRPr>
            </a:pPr>
            <a:r>
              <a:t>    Thực nghiệm 4 độ tuổi tại Trường Mầm non Phúc Sơn B</a:t>
            </a:r>
          </a:p>
          <a:p>
            <a:pPr>
              <a:defRPr sz="1500" b="1">
                <a:solidFill>
                  <a:srgbClr val="1E293B"/>
                </a:solidFill>
                <a:latin typeface="Arial"/>
              </a:defRPr>
            </a:pPr>
            <a:r>
              <a:t>• Phần 4: Kết quả và Tác động</a:t>
            </a:r>
          </a:p>
          <a:p>
            <a:pPr>
              <a:defRPr sz="1100">
                <a:solidFill>
                  <a:srgbClr val="475569"/>
                </a:solidFill>
                <a:latin typeface="Arial"/>
              </a:defRPr>
            </a:pPr>
            <a:r>
              <a:t>    Giảm 80% thời gian, 100% tiết dạy có học liệu số trực quan</a:t>
            </a:r>
          </a:p>
          <a:p>
            <a:pPr>
              <a:defRPr sz="1500" b="1">
                <a:solidFill>
                  <a:srgbClr val="1E293B"/>
                </a:solidFill>
                <a:latin typeface="Arial"/>
              </a:defRPr>
            </a:pPr>
            <a:r>
              <a:t>• Phần 5: Tính bền vững &amp; Khả năng nhân rộng</a:t>
            </a:r>
          </a:p>
          <a:p>
            <a:pPr>
              <a:defRPr sz="1100">
                <a:solidFill>
                  <a:srgbClr val="475569"/>
                </a:solidFill>
                <a:latin typeface="Arial"/>
              </a:defRPr>
            </a:pPr>
            <a:r>
              <a:t>    Vận hành 0 đồng kinh phí, tài liệu đóng gói 3 bước</a:t>
            </a:r>
          </a:p>
          <a:p>
            <a:pPr>
              <a:defRPr sz="1500" b="1">
                <a:solidFill>
                  <a:srgbClr val="1E293B"/>
                </a:solidFill>
                <a:latin typeface="Arial"/>
              </a:defRPr>
            </a:pPr>
            <a:r>
              <a:t>• Phần 6: Định hướng tương lai &amp; Tài liệu đính kèm</a:t>
            </a:r>
          </a:p>
          <a:p>
            <a:pPr>
              <a:defRPr sz="1100">
                <a:solidFill>
                  <a:srgbClr val="475569"/>
                </a:solidFill>
                <a:latin typeface="Arial"/>
              </a:defRPr>
            </a:pPr>
            <a:r>
              <a:t>    Mở rộng 9 chủ đề năm học &amp; Link trải nghiệm công khai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00800"/>
            <a:ext cx="12191695" cy="45720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rIns="731520"/>
          <a:lstStyle/>
          <a:p>
            <a:pPr algn="r">
              <a:defRPr sz="1100" b="1">
                <a:solidFill>
                  <a:srgbClr val="FFFFFF"/>
                </a:solidFill>
                <a:latin typeface="Arial"/>
              </a:defRPr>
            </a:pPr>
            <a:r>
              <a:t>Giải Thưởng Tiên Phong Ứng Dụng AI Trong Giáo Dục Việt Nam 2026</a:t>
            </a:r>
          </a:p>
        </p:txBody>
      </p:sp>
      <p:sp>
        <p:nvSpPr>
          <p:cNvPr id="3" name="TextBox 2"/>
          <p:cNvSpPr txBox="1"/>
          <p:nvPr/>
        </p:nvSpPr>
        <p:spPr>
          <a:xfrm>
            <a:off x="731520" y="731520"/>
            <a:ext cx="10728655" cy="5303520"/>
          </a:xfrm>
          <a:prstGeom prst="rect">
            <a:avLst/>
          </a:prstGeom>
          <a:noFill/>
        </p:spPr>
        <p:txBody>
          <a:bodyPr wrap="square">
            <a:spAutoFit/>
          </a:bodyPr>
          <a:lstStyle/>
          <a:p>
            <a:pPr>
              <a:defRPr sz="3000" b="1">
                <a:solidFill>
                  <a:srgbClr val="0A194D"/>
                </a:solidFill>
                <a:latin typeface="Arial"/>
              </a:defRPr>
            </a:pPr>
            <a:r>
              <a:t>NỘI DUNG BÀI TRÌNH BÀY</a:t>
            </a:r>
          </a:p>
          <a:p>
            <a:pPr>
              <a:defRPr sz="1600" b="1">
                <a:solidFill>
                  <a:srgbClr val="0284C7"/>
                </a:solidFill>
                <a:latin typeface="Arial"/>
              </a:defRPr>
            </a:pPr>
            <a:r>
              <a:t>• Giải phóng sức lao động nhà giáo - Khơi nguồn sáng tạo bài giảng mầm non cùng AI</a:t>
            </a:r>
          </a:p>
        </p:txBody>
      </p:sp>
      <p:sp>
        <p:nvSpPr>
          <p:cNvPr id="4" name="Rounded Rectangle 3"/>
          <p:cNvSpPr/>
          <p:nvPr/>
        </p:nvSpPr>
        <p:spPr>
          <a:xfrm>
            <a:off x="731520" y="2011680"/>
            <a:ext cx="10728655" cy="393192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274320"/>
          <a:lstStyle/>
          <a:p>
            <a:pPr algn="ctr">
              <a:defRPr sz="1200">
                <a:solidFill>
                  <a:srgbClr val="1E293B"/>
                </a:solidFill>
                <a:latin typeface="Arial"/>
              </a:defRPr>
            </a:pPr>
            <a:r>
              <a:t>Mục tiêu trọng tâm: Ứng dụng Trí tuệ nhân tạo tạo sinh (Generative AI) để tự động hóa 80% quy trình xây dựng Kế hoạch bài dạy (giáo án) và sản xuất kho học liệu số đa phương tiện (thơ mới, câu đố vui, hình ảnh hoạt họa, trò chơi tương tác).</a:t>
            </a:r>
          </a:p>
          <a:p>
            <a:pPr>
              <a:defRPr sz="1200">
                <a:solidFill>
                  <a:srgbClr val="1E293B"/>
                </a:solidFill>
                <a:latin typeface="Arial"/>
              </a:defRPr>
            </a:pPr>
            <a:r>
              <a:t>Tính sư phạm pháp lý: Toàn bộ cấu trúc đầu ra được thiết kế bám sát 100% Chương trình Giáo dục Mầm non ban hành kèm Thông tư 51/2020/TT-BGDĐT của Bộ GD&amp;ĐT.</a:t>
            </a:r>
          </a:p>
          <a:p>
            <a:pPr>
              <a:defRPr sz="1200">
                <a:solidFill>
                  <a:srgbClr val="1E293B"/>
                </a:solidFill>
                <a:latin typeface="Arial"/>
              </a:defRPr>
            </a:pPr>
            <a:r>
              <a:t>Địa bàn thực nghiệm: Triển khai thực tế tại Trường Mầm non Phúc Sơn B (huyện Tân Yên, tỉnh Bắc Giang) cho hơn 100 trẻ ở cả 4 độ tuổi (Nhà trẻ, Mẫu giáo Bé, Nhỡ, Lớn).</a:t>
            </a:r>
          </a:p>
          <a:p>
            <a:pPr>
              <a:defRPr sz="1200">
                <a:solidFill>
                  <a:srgbClr val="1E293B"/>
                </a:solidFill>
                <a:latin typeface="Arial"/>
              </a:defRPr>
            </a:pPr>
            <a:r>
              <a:t>Hiệu quả nổi bật: Được chứng minh bằng số liệu thực nghiệm: Giảm từ 14h xuống 2.5h chuẩn bị/tuần, tỷ lệ trẻ hào hứng tập trung đạt 95.8%, chi phí vận hành 0 đồng.</a:t>
            </a:r>
          </a:p>
          <a:p>
            <a:pPr>
              <a:defRPr sz="1200">
                <a:solidFill>
                  <a:srgbClr val="1E293B"/>
                </a:solidFill>
                <a:latin typeface="Arial"/>
              </a:defRPr>
            </a:pPr>
            <a:r>
              <a:t>Thông điệp cốt lõi: AI không thay thế người thầy, mà trao quyền cho cô giáo dành trọn vẹn thời gian và tình yêu thương để chăm sóc, giáo dục từng mầm non tương lai.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00800"/>
            <a:ext cx="12191695" cy="45720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rIns="731520"/>
          <a:lstStyle/>
          <a:p>
            <a:pPr algn="r">
              <a:defRPr sz="1100" b="1">
                <a:solidFill>
                  <a:srgbClr val="FFFFFF"/>
                </a:solidFill>
                <a:latin typeface="Arial"/>
              </a:defRPr>
            </a:pPr>
            <a:r>
              <a:t>Giải Thưởng Tiên Phong Ứng Dụng AI Trong Giáo Dục Việt Nam 2026</a:t>
            </a:r>
          </a:p>
        </p:txBody>
      </p:sp>
      <p:sp>
        <p:nvSpPr>
          <p:cNvPr id="3" name="TextBox 2"/>
          <p:cNvSpPr txBox="1"/>
          <p:nvPr/>
        </p:nvSpPr>
        <p:spPr>
          <a:xfrm>
            <a:off x="731520" y="731520"/>
            <a:ext cx="10728655" cy="914400"/>
          </a:xfrm>
          <a:prstGeom prst="rect">
            <a:avLst/>
          </a:prstGeom>
          <a:noFill/>
        </p:spPr>
        <p:txBody>
          <a:bodyPr wrap="none">
            <a:spAutoFit/>
          </a:bodyPr>
          <a:lstStyle/>
          <a:p>
            <a:pPr>
              <a:defRPr sz="3000" b="1">
                <a:solidFill>
                  <a:srgbClr val="0A194D"/>
                </a:solidFill>
                <a:latin typeface="Arial"/>
              </a:defRPr>
            </a:pPr>
            <a:r>
              <a:t>BỐI CẢNH VÀ VẤN ĐỀ</a:t>
            </a:r>
          </a:p>
        </p:txBody>
      </p:sp>
      <p:sp>
        <p:nvSpPr>
          <p:cNvPr id="4" name="Rounded Rectangle 3"/>
          <p:cNvSpPr/>
          <p:nvPr/>
        </p:nvSpPr>
        <p:spPr>
          <a:xfrm>
            <a:off x="731520" y="1737360"/>
            <a:ext cx="10728655" cy="12801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37160"/>
          <a:lstStyle/>
          <a:p>
            <a:pPr algn="ctr">
              <a:defRPr sz="1400" b="1">
                <a:solidFill>
                  <a:srgbClr val="B91C1C"/>
                </a:solidFill>
                <a:latin typeface="Arial"/>
              </a:defRPr>
            </a:pPr>
            <a:r>
              <a:t>Thách thức 1: Gánh nặng hồ sơ sổ sách</a:t>
            </a:r>
          </a:p>
          <a:p>
            <a:pPr>
              <a:defRPr sz="1100">
                <a:solidFill>
                  <a:srgbClr val="1E293B"/>
                </a:solidFill>
                <a:latin typeface="Arial"/>
              </a:defRPr>
            </a:pPr>
            <a:r>
              <a:t>Theo quy định Bộ GD&amp;ĐT, mỗi tuần giáo viên phải soạn 10 - 15 kế hoạch bài dạy chi tiết cho từng ngày. Thống kê giáo viên mất từ 12 - 15 giờ/tuần ngoài giờ lên lớp chỉ để tìm kiếm tài liệu và gõ máy tính, gây quá tải và áp lực nghề nghiệp kéo dài.</a:t>
            </a:r>
          </a:p>
        </p:txBody>
      </p:sp>
      <p:sp>
        <p:nvSpPr>
          <p:cNvPr id="5" name="Rounded Rectangle 4"/>
          <p:cNvSpPr/>
          <p:nvPr/>
        </p:nvSpPr>
        <p:spPr>
          <a:xfrm>
            <a:off x="731520" y="3200400"/>
            <a:ext cx="10728655" cy="12801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37160"/>
          <a:lstStyle/>
          <a:p>
            <a:pPr algn="ctr">
              <a:defRPr sz="1400" b="1">
                <a:solidFill>
                  <a:srgbClr val="B45309"/>
                </a:solidFill>
                <a:latin typeface="Arial"/>
              </a:defRPr>
            </a:pPr>
            <a:r>
              <a:t>Thách thức 2: Nhận xét rập khuôn, thiếu cá nhân hóa</a:t>
            </a:r>
          </a:p>
          <a:p>
            <a:pPr>
              <a:defRPr sz="1100">
                <a:solidFill>
                  <a:srgbClr val="1E293B"/>
                </a:solidFill>
                <a:latin typeface="Arial"/>
              </a:defRPr>
            </a:pPr>
            <a:r>
              <a:t>Do áp lực thời gian quá lớn, nhiều giáo viên phải sao chép thụ động các giáo án cũ tải trên mạng. Nội dung thường mang tính rập khuôn, chiếu lệ, chưa bám sát tâm lý lứa tuổi và chưa kích hoạt được tính sáng tạo thực tế của trẻ tại địa phương.</a:t>
            </a:r>
          </a:p>
        </p:txBody>
      </p:sp>
      <p:sp>
        <p:nvSpPr>
          <p:cNvPr id="6" name="Rounded Rectangle 5"/>
          <p:cNvSpPr/>
          <p:nvPr/>
        </p:nvSpPr>
        <p:spPr>
          <a:xfrm>
            <a:off x="731520" y="4663440"/>
            <a:ext cx="10728655" cy="12801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37160"/>
          <a:lstStyle/>
          <a:p>
            <a:pPr algn="ctr">
              <a:defRPr sz="1400" b="1">
                <a:solidFill>
                  <a:srgbClr val="0A194D"/>
                </a:solidFill>
                <a:latin typeface="Arial"/>
              </a:defRPr>
            </a:pPr>
            <a:r>
              <a:t>Thách thức 3: Kênh kết nối &amp; học liệu trực quan bị nghẽn</a:t>
            </a:r>
          </a:p>
          <a:p>
            <a:pPr>
              <a:defRPr sz="1100">
                <a:solidFill>
                  <a:srgbClr val="1E293B"/>
                </a:solidFill>
                <a:latin typeface="Arial"/>
              </a:defRPr>
            </a:pPr>
            <a:r>
              <a:t>Trường mầm non vùng nông thôn thiếu thốn đồ dùng trực quan, tranh ảnh nghèo nàn; việc sáng tác thơ hay câu đố mới mất nhiều thời gian. Kênh kết nối hoạt động học với phụ huynh còn lỏng lẻo, trẻ nhanh chán và giảm tập trung trong tiết học.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00800"/>
            <a:ext cx="12191695" cy="45720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rIns="731520"/>
          <a:lstStyle/>
          <a:p>
            <a:pPr algn="r">
              <a:defRPr sz="1100" b="1">
                <a:solidFill>
                  <a:srgbClr val="FFFFFF"/>
                </a:solidFill>
                <a:latin typeface="Arial"/>
              </a:defRPr>
            </a:pPr>
            <a:r>
              <a:t>Giải Thưởng Tiên Phong Ứng Dụng AI Trong Giáo Dục Việt Nam 2026</a:t>
            </a:r>
          </a:p>
        </p:txBody>
      </p:sp>
      <p:sp>
        <p:nvSpPr>
          <p:cNvPr id="3" name="TextBox 2"/>
          <p:cNvSpPr txBox="1"/>
          <p:nvPr/>
        </p:nvSpPr>
        <p:spPr>
          <a:xfrm>
            <a:off x="731520" y="548640"/>
            <a:ext cx="10728655" cy="914400"/>
          </a:xfrm>
          <a:prstGeom prst="rect">
            <a:avLst/>
          </a:prstGeom>
          <a:noFill/>
        </p:spPr>
        <p:txBody>
          <a:bodyPr wrap="none">
            <a:spAutoFit/>
          </a:bodyPr>
          <a:lstStyle/>
          <a:p>
            <a:pPr>
              <a:defRPr sz="3000" b="1">
                <a:solidFill>
                  <a:srgbClr val="0A194D"/>
                </a:solidFill>
                <a:latin typeface="Arial"/>
              </a:defRPr>
            </a:pPr>
            <a:r>
              <a:t>Ý TƯỞNG VÀ GIẢI PHÁP</a:t>
            </a:r>
          </a:p>
        </p:txBody>
      </p:sp>
      <p:sp>
        <p:nvSpPr>
          <p:cNvPr id="4" name="Rounded Rectangle 3"/>
          <p:cNvSpPr/>
          <p:nvPr/>
        </p:nvSpPr>
        <p:spPr>
          <a:xfrm>
            <a:off x="731520" y="1463040"/>
            <a:ext cx="3413455" cy="822960"/>
          </a:xfrm>
          <a:prstGeom prst="round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3C5FD"/>
                </a:solidFill>
                <a:latin typeface="Arial"/>
              </a:defRPr>
            </a:pPr>
            <a:r>
              <a:t>TRỤ CỘT 1</a:t>
            </a:r>
          </a:p>
          <a:p>
            <a:pPr>
              <a:defRPr sz="1100" b="1">
                <a:solidFill>
                  <a:srgbClr val="FFFFFF"/>
                </a:solidFill>
                <a:latin typeface="Arial"/>
              </a:defRPr>
            </a:pPr>
            <a:r>
              <a:t>Soạn Kế hoạch bài dạy chuẩn Thông tư 51</a:t>
            </a:r>
          </a:p>
        </p:txBody>
      </p:sp>
      <p:sp>
        <p:nvSpPr>
          <p:cNvPr id="5" name="Rectangle 4"/>
          <p:cNvSpPr/>
          <p:nvPr/>
        </p:nvSpPr>
        <p:spPr>
          <a:xfrm>
            <a:off x="731520" y="2377440"/>
            <a:ext cx="3413455" cy="1920240"/>
          </a:xfrm>
          <a:prstGeom prst="rect">
            <a:avLst/>
          </a:prstGeom>
          <a:solidFill>
            <a:srgbClr val="E2E8F0"/>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latin typeface="Arial"/>
              </a:defRPr>
            </a:pPr>
            <a:r>
              <a:t>[Ảnh minh họa Trụ cột 1]</a:t>
            </a:r>
          </a:p>
        </p:txBody>
      </p:sp>
      <p:sp>
        <p:nvSpPr>
          <p:cNvPr id="6" name="Rounded Rectangle 5"/>
          <p:cNvSpPr/>
          <p:nvPr/>
        </p:nvSpPr>
        <p:spPr>
          <a:xfrm>
            <a:off x="731520" y="4389120"/>
            <a:ext cx="3413455" cy="1828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defRPr sz="1000">
                <a:solidFill>
                  <a:srgbClr val="1E293B"/>
                </a:solidFill>
                <a:latin typeface="Arial"/>
              </a:defRPr>
            </a:pPr>
            <a:r>
              <a:t>Ứng dụng Prompt Master bám sát mục tiêu 3 phần: Kiến thức - Kỹ năng - Thái độ và tiến trình 3 bước (Gây hứng thú - Khám phá - Kết thúc). Xuất file Word giáo án hoàn chỉnh trong 30 giây.</a:t>
            </a:r>
          </a:p>
        </p:txBody>
      </p:sp>
      <p:sp>
        <p:nvSpPr>
          <p:cNvPr id="7" name="Rounded Rectangle 6"/>
          <p:cNvSpPr/>
          <p:nvPr/>
        </p:nvSpPr>
        <p:spPr>
          <a:xfrm>
            <a:off x="4389120" y="1463040"/>
            <a:ext cx="3413455" cy="822960"/>
          </a:xfrm>
          <a:prstGeom prst="round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3C5FD"/>
                </a:solidFill>
                <a:latin typeface="Arial"/>
              </a:defRPr>
            </a:pPr>
            <a:r>
              <a:t>TRỤ CỘT 2</a:t>
            </a:r>
          </a:p>
          <a:p>
            <a:pPr>
              <a:defRPr sz="1100" b="1">
                <a:solidFill>
                  <a:srgbClr val="FFFFFF"/>
                </a:solidFill>
                <a:latin typeface="Arial"/>
              </a:defRPr>
            </a:pPr>
            <a:r>
              <a:t>Sáng tác Thơ, Câu đố &amp; Học liệu số tức thì</a:t>
            </a:r>
          </a:p>
        </p:txBody>
      </p:sp>
      <p:sp>
        <p:nvSpPr>
          <p:cNvPr id="8" name="Rectangle 7"/>
          <p:cNvSpPr/>
          <p:nvPr/>
        </p:nvSpPr>
        <p:spPr>
          <a:xfrm>
            <a:off x="4389120" y="2377440"/>
            <a:ext cx="3413455" cy="1920240"/>
          </a:xfrm>
          <a:prstGeom prst="rect">
            <a:avLst/>
          </a:prstGeom>
          <a:solidFill>
            <a:srgbClr val="E2E8F0"/>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latin typeface="Arial"/>
              </a:defRPr>
            </a:pPr>
            <a:r>
              <a:t>[Ảnh minh họa Trụ cột 2]</a:t>
            </a:r>
          </a:p>
        </p:txBody>
      </p:sp>
      <p:sp>
        <p:nvSpPr>
          <p:cNvPr id="9" name="Rounded Rectangle 8"/>
          <p:cNvSpPr/>
          <p:nvPr/>
        </p:nvSpPr>
        <p:spPr>
          <a:xfrm>
            <a:off x="4389120" y="4389120"/>
            <a:ext cx="3413455" cy="1828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defRPr sz="1000">
                <a:solidFill>
                  <a:srgbClr val="1E293B"/>
                </a:solidFill>
                <a:latin typeface="Arial"/>
              </a:defRPr>
            </a:pPr>
            <a:r>
              <a:t>AI đóng vai trò trợ lý thơ ca mầm non: Tự động sáng tác thơ 4-5 chữ gieo vần tươi vui, tạo 3 câu đố vui dí dỏm và cung cấp prompt vẽ tranh minh họa sinh động theo từng chủ đề bài dạy.</a:t>
            </a:r>
          </a:p>
        </p:txBody>
      </p:sp>
      <p:sp>
        <p:nvSpPr>
          <p:cNvPr id="10" name="Rounded Rectangle 9"/>
          <p:cNvSpPr/>
          <p:nvPr/>
        </p:nvSpPr>
        <p:spPr>
          <a:xfrm>
            <a:off x="8046720" y="1463040"/>
            <a:ext cx="3413455" cy="822960"/>
          </a:xfrm>
          <a:prstGeom prst="round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93C5FD"/>
                </a:solidFill>
                <a:latin typeface="Arial"/>
              </a:defRPr>
            </a:pPr>
            <a:r>
              <a:t>TRỤ CỘT 3</a:t>
            </a:r>
          </a:p>
          <a:p>
            <a:pPr>
              <a:defRPr sz="1100" b="1">
                <a:solidFill>
                  <a:srgbClr val="FFFFFF"/>
                </a:solidFill>
                <a:latin typeface="Arial"/>
              </a:defRPr>
            </a:pPr>
            <a:r>
              <a:t>Thiết kế Trò chơi tương tác chạm màn hình</a:t>
            </a:r>
          </a:p>
        </p:txBody>
      </p:sp>
      <p:sp>
        <p:nvSpPr>
          <p:cNvPr id="11" name="Rectangle 10"/>
          <p:cNvSpPr/>
          <p:nvPr/>
        </p:nvSpPr>
        <p:spPr>
          <a:xfrm>
            <a:off x="8046720" y="2377440"/>
            <a:ext cx="3413455" cy="1920240"/>
          </a:xfrm>
          <a:prstGeom prst="rect">
            <a:avLst/>
          </a:prstGeom>
          <a:solidFill>
            <a:srgbClr val="E2E8F0"/>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latin typeface="Arial"/>
              </a:defRPr>
            </a:pPr>
            <a:r>
              <a:t>[Ảnh minh họa Trụ cột 3]</a:t>
            </a:r>
          </a:p>
        </p:txBody>
      </p:sp>
      <p:sp>
        <p:nvSpPr>
          <p:cNvPr id="12" name="Rounded Rectangle 11"/>
          <p:cNvSpPr/>
          <p:nvPr/>
        </p:nvSpPr>
        <p:spPr>
          <a:xfrm>
            <a:off x="8046720" y="4389120"/>
            <a:ext cx="3413455" cy="182880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defRPr sz="1000">
                <a:solidFill>
                  <a:srgbClr val="1E293B"/>
                </a:solidFill>
                <a:latin typeface="Arial"/>
              </a:defRPr>
            </a:pPr>
            <a:r>
              <a:t>Tự động xây dựng kịch bản trò chơi củng cố đa điểm chạm: 'Tìm bóng con vật', 'Về đúng chuồng', 'Phân loại rác'; chạy mượt mà trên smart tivi hoặc máy chiếu lớp học.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00800"/>
            <a:ext cx="12191695" cy="45720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rIns="731520"/>
          <a:lstStyle/>
          <a:p>
            <a:pPr algn="r">
              <a:defRPr sz="1100" b="1">
                <a:solidFill>
                  <a:srgbClr val="FFFFFF"/>
                </a:solidFill>
                <a:latin typeface="Arial"/>
              </a:defRPr>
            </a:pPr>
            <a:r>
              <a:t>Giải Thưởng Tiên Phong Ứng Dụng AI Trong Giáo Dục Việt Nam 2026</a:t>
            </a:r>
          </a:p>
        </p:txBody>
      </p:sp>
      <p:sp>
        <p:nvSpPr>
          <p:cNvPr id="3" name="TextBox 2"/>
          <p:cNvSpPr txBox="1"/>
          <p:nvPr/>
        </p:nvSpPr>
        <p:spPr>
          <a:xfrm>
            <a:off x="731520" y="548640"/>
            <a:ext cx="10728655" cy="1097280"/>
          </a:xfrm>
          <a:prstGeom prst="rect">
            <a:avLst/>
          </a:prstGeom>
          <a:noFill/>
        </p:spPr>
        <p:txBody>
          <a:bodyPr wrap="none">
            <a:spAutoFit/>
          </a:bodyPr>
          <a:lstStyle/>
          <a:p>
            <a:pPr>
              <a:defRPr sz="3000" b="1">
                <a:solidFill>
                  <a:srgbClr val="0A194D"/>
                </a:solidFill>
                <a:latin typeface="Arial"/>
              </a:defRPr>
            </a:pPr>
            <a:r>
              <a:t>TRIỂN KHAI THỰC TẾ</a:t>
            </a:r>
          </a:p>
          <a:p>
            <a:pPr>
              <a:defRPr sz="1500" b="1">
                <a:solidFill>
                  <a:srgbClr val="0284C7"/>
                </a:solidFill>
                <a:latin typeface="Arial"/>
              </a:defRPr>
            </a:pPr>
            <a:r>
              <a:t>QUY MÔ TRIỂN KHAI THỰC NGHIỆM</a:t>
            </a:r>
          </a:p>
        </p:txBody>
      </p:sp>
      <p:sp>
        <p:nvSpPr>
          <p:cNvPr id="4" name="Rounded Rectangle 3"/>
          <p:cNvSpPr/>
          <p:nvPr/>
        </p:nvSpPr>
        <p:spPr>
          <a:xfrm>
            <a:off x="731520" y="1737360"/>
            <a:ext cx="6400800" cy="438912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a:lstStyle/>
          <a:p>
            <a:pPr algn="ctr">
              <a:defRPr sz="1100" b="1">
                <a:solidFill>
                  <a:srgbClr val="1E293B"/>
                </a:solidFill>
                <a:latin typeface="Arial"/>
              </a:defRPr>
            </a:pPr>
            <a:r>
              <a:t>• Địa bàn áp dụng: Trường Mầm non Phúc Sơn B, Xã Phúc Sơn, huyện Tân Yên, tỉnh Bắc Giang.</a:t>
            </a:r>
          </a:p>
          <a:p>
            <a:pPr>
              <a:defRPr sz="1100" b="1">
                <a:solidFill>
                  <a:srgbClr val="1E293B"/>
                </a:solidFill>
                <a:latin typeface="Arial"/>
              </a:defRPr>
            </a:pPr>
            <a:r>
              <a:t>• 4 Khối lớp tham gia thực nghiệm đầy đủ:</a:t>
            </a:r>
          </a:p>
          <a:p>
            <a:pPr>
              <a:defRPr sz="1100">
                <a:solidFill>
                  <a:srgbClr val="1E293B"/>
                </a:solidFill>
                <a:latin typeface="Arial"/>
              </a:defRPr>
            </a:pPr>
            <a:r>
              <a:t>    - Nhóm Nhà trẻ (24 - 36 tháng tuổi): Tiết nhận biết tập nói, phát triển cảm giác.</a:t>
            </a:r>
          </a:p>
          <a:p>
            <a:pPr>
              <a:defRPr sz="1100">
                <a:solidFill>
                  <a:srgbClr val="1E293B"/>
                </a:solidFill>
                <a:latin typeface="Arial"/>
              </a:defRPr>
            </a:pPr>
            <a:r>
              <a:t>    - Lớp Mẫu giáo bé (3 - 4 tuổi): Khám phá môi trường xung quanh, vận động.</a:t>
            </a:r>
          </a:p>
          <a:p>
            <a:pPr>
              <a:defRPr sz="1100">
                <a:solidFill>
                  <a:srgbClr val="1E293B"/>
                </a:solidFill>
                <a:latin typeface="Arial"/>
              </a:defRPr>
            </a:pPr>
            <a:r>
              <a:t>    - Lớp Mẫu giáo nhỡ (4 - 5 tuổi): Làm quen chữ cái, toán học sơ đẳng, tạo hình.</a:t>
            </a:r>
          </a:p>
          <a:p>
            <a:pPr>
              <a:defRPr sz="1100">
                <a:solidFill>
                  <a:srgbClr val="1E293B"/>
                </a:solidFill>
                <a:latin typeface="Arial"/>
              </a:defRPr>
            </a:pPr>
            <a:r>
              <a:t>    - Lớp Mẫu giáo lớn (5 - 6 tuổi): Chuẩn bị tâm thế vào lớp 1, tư duy logic phản biện.</a:t>
            </a:r>
          </a:p>
          <a:p>
            <a:pPr>
              <a:defRPr sz="1100" b="1">
                <a:solidFill>
                  <a:srgbClr val="1E293B"/>
                </a:solidFill>
                <a:latin typeface="Arial"/>
              </a:defRPr>
            </a:pPr>
            <a:r>
              <a:t>• Tổng số học sinh: Hơn 100 trẻ tham gia các tiết học ứng dụng học liệu AI trực tiếp.</a:t>
            </a:r>
          </a:p>
          <a:p>
            <a:pPr>
              <a:defRPr sz="1100" b="1">
                <a:solidFill>
                  <a:srgbClr val="1E293B"/>
                </a:solidFill>
                <a:latin typeface="Arial"/>
              </a:defRPr>
            </a:pPr>
            <a:r>
              <a:t>• Đội ngũ tham gia: 12 giáo viên trong Tổ chuyên môn mầm non phối hợp thực nghiệm.</a:t>
            </a:r>
          </a:p>
          <a:p>
            <a:pPr>
              <a:defRPr sz="1100" b="1">
                <a:solidFill>
                  <a:srgbClr val="1E293B"/>
                </a:solidFill>
                <a:latin typeface="Arial"/>
              </a:defRPr>
            </a:pPr>
            <a:r>
              <a:t>• Thiết bị sử dụng: Điện thoại thông minh cá nhân của giáo viên, máy tính để bàn lớp học, tivi kết nối internet sẵn có của nhà trường.</a:t>
            </a:r>
          </a:p>
        </p:txBody>
      </p:sp>
      <p:sp>
        <p:nvSpPr>
          <p:cNvPr id="5" name="Rectangle 4"/>
          <p:cNvSpPr/>
          <p:nvPr/>
        </p:nvSpPr>
        <p:spPr>
          <a:xfrm>
            <a:off x="7406640" y="1737360"/>
            <a:ext cx="4023360" cy="2103120"/>
          </a:xfrm>
          <a:prstGeom prst="rect">
            <a:avLst/>
          </a:prstGeom>
          <a:solidFill>
            <a:srgbClr val="E2E8F0"/>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latin typeface="Arial"/>
              </a:defRPr>
            </a:pPr>
            <a:r>
              <a:t>[Hình ảnh: Cô giáo thao tác</a:t>
            </a:r>
            <a:br/>
            <a:r>
              <a:t>trên Web App KID-LESSON AI]</a:t>
            </a:r>
          </a:p>
        </p:txBody>
      </p:sp>
      <p:sp>
        <p:nvSpPr>
          <p:cNvPr id="6" name="Rectangle 5"/>
          <p:cNvSpPr/>
          <p:nvPr/>
        </p:nvSpPr>
        <p:spPr>
          <a:xfrm>
            <a:off x="7406640" y="4023360"/>
            <a:ext cx="4023360" cy="2103120"/>
          </a:xfrm>
          <a:prstGeom prst="rect">
            <a:avLst/>
          </a:prstGeom>
          <a:solidFill>
            <a:srgbClr val="E2E8F0"/>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475569"/>
                </a:solidFill>
                <a:latin typeface="Arial"/>
              </a:defRPr>
            </a:pPr>
            <a:r>
              <a:t>[Hình ảnh: Trẻ tương tác học liệu</a:t>
            </a:r>
            <a:br/>
            <a:r>
              <a:t>trên Tivi thông minh lớp học]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00800"/>
            <a:ext cx="12191695" cy="45720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rIns="731520"/>
          <a:lstStyle/>
          <a:p>
            <a:pPr algn="r">
              <a:defRPr sz="1100" b="1">
                <a:solidFill>
                  <a:srgbClr val="FFFFFF"/>
                </a:solidFill>
                <a:latin typeface="Arial"/>
              </a:defRPr>
            </a:pPr>
            <a:r>
              <a:t>Giải Thưởng Tiên Phong Ứng Dụng AI Trong Giáo Dục Việt Nam 2026</a:t>
            </a:r>
          </a:p>
        </p:txBody>
      </p:sp>
      <p:sp>
        <p:nvSpPr>
          <p:cNvPr id="3" name="TextBox 2"/>
          <p:cNvSpPr txBox="1"/>
          <p:nvPr/>
        </p:nvSpPr>
        <p:spPr>
          <a:xfrm>
            <a:off x="731520" y="548640"/>
            <a:ext cx="10728655" cy="914400"/>
          </a:xfrm>
          <a:prstGeom prst="rect">
            <a:avLst/>
          </a:prstGeom>
          <a:noFill/>
        </p:spPr>
        <p:txBody>
          <a:bodyPr wrap="none">
            <a:spAutoFit/>
          </a:bodyPr>
          <a:lstStyle/>
          <a:p>
            <a:pPr>
              <a:defRPr sz="3000" b="1">
                <a:solidFill>
                  <a:srgbClr val="0A194D"/>
                </a:solidFill>
                <a:latin typeface="Arial"/>
              </a:defRPr>
            </a:pPr>
            <a:r>
              <a:t>KẾT QUẢ VÀ TÁC ĐỘNG</a:t>
            </a:r>
          </a:p>
        </p:txBody>
      </p:sp>
      <p:graphicFrame>
        <p:nvGraphicFramePr>
          <p:cNvPr id="4" name="Table 3"/>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3962095"/>
                <a:gridCol w="2194560"/>
                <a:gridCol w="2194560"/>
                <a:gridCol w="2377440"/>
              </a:tblGrid>
              <a:tr h="877824">
                <a:tc>
                  <a:txBody>
                    <a:bodyPr anchor="ctr"/>
                    <a:lstStyle/>
                    <a:p>
                      <a:pPr algn="ctr">
                        <a:defRPr sz="1200" b="1">
                          <a:solidFill>
                            <a:srgbClr val="FFFFFF"/>
                          </a:solidFill>
                          <a:latin typeface="Arial"/>
                        </a:defRPr>
                      </a:pPr>
                      <a:r>
                        <a:t>Chỉ số đo lường thực nghiệm</a:t>
                      </a:r>
                    </a:p>
                  </a:txBody>
                  <a:tcPr>
                    <a:solidFill>
                      <a:srgbClr val="0A194D"/>
                    </a:solidFill>
                  </a:tcPr>
                </a:tc>
                <a:tc>
                  <a:txBody>
                    <a:bodyPr anchor="ctr"/>
                    <a:lstStyle/>
                    <a:p>
                      <a:pPr algn="ctr">
                        <a:defRPr sz="1200" b="1">
                          <a:solidFill>
                            <a:srgbClr val="FFFFFF"/>
                          </a:solidFill>
                          <a:latin typeface="Arial"/>
                        </a:defRPr>
                      </a:pPr>
                      <a:r>
                        <a:t>Trước áp dụng</a:t>
                      </a:r>
                    </a:p>
                  </a:txBody>
                  <a:tcPr>
                    <a:solidFill>
                      <a:srgbClr val="0A194D"/>
                    </a:solidFill>
                  </a:tcPr>
                </a:tc>
                <a:tc>
                  <a:txBody>
                    <a:bodyPr anchor="ctr"/>
                    <a:lstStyle/>
                    <a:p>
                      <a:pPr algn="ctr">
                        <a:defRPr sz="1200" b="1">
                          <a:solidFill>
                            <a:srgbClr val="FFFFFF"/>
                          </a:solidFill>
                          <a:latin typeface="Arial"/>
                        </a:defRPr>
                      </a:pPr>
                      <a:r>
                        <a:t>Sau áp dụng</a:t>
                      </a:r>
                    </a:p>
                  </a:txBody>
                  <a:tcPr>
                    <a:solidFill>
                      <a:srgbClr val="0A194D"/>
                    </a:solidFill>
                  </a:tcPr>
                </a:tc>
                <a:tc>
                  <a:txBody>
                    <a:bodyPr anchor="ctr"/>
                    <a:lstStyle/>
                    <a:p>
                      <a:pPr algn="ctr">
                        <a:defRPr sz="1200" b="1">
                          <a:solidFill>
                            <a:srgbClr val="FFFFFF"/>
                          </a:solidFill>
                          <a:latin typeface="Arial"/>
                        </a:defRPr>
                      </a:pPr>
                      <a:r>
                        <a:t>Kết quả</a:t>
                      </a:r>
                    </a:p>
                  </a:txBody>
                  <a:tcPr>
                    <a:solidFill>
                      <a:srgbClr val="0A194D"/>
                    </a:solidFill>
                  </a:tcPr>
                </a:tc>
              </a:tr>
              <a:tr h="877824">
                <a:tc>
                  <a:txBody>
                    <a:bodyPr anchor="ctr"/>
                    <a:lstStyle/>
                    <a:p>
                      <a:pPr algn="l">
                        <a:defRPr sz="1200" b="1">
                          <a:solidFill>
                            <a:srgbClr val="1E293B"/>
                          </a:solidFill>
                          <a:latin typeface="Arial"/>
                        </a:defRPr>
                      </a:pPr>
                      <a:r>
                        <a:t>Thời gian soạn Kế hoạch bài dạy:</a:t>
                      </a:r>
                    </a:p>
                  </a:txBody>
                  <a:tcPr>
                    <a:solidFill>
                      <a:srgbClr val="FFFFFF"/>
                    </a:solidFill>
                  </a:tcPr>
                </a:tc>
                <a:tc>
                  <a:txBody>
                    <a:bodyPr anchor="ctr"/>
                    <a:lstStyle/>
                    <a:p>
                      <a:pPr algn="ctr">
                        <a:defRPr sz="1200">
                          <a:solidFill>
                            <a:srgbClr val="1E293B"/>
                          </a:solidFill>
                          <a:latin typeface="Arial"/>
                        </a:defRPr>
                      </a:pPr>
                      <a:r>
                        <a:t>12 - 14 giờ/tuần</a:t>
                      </a:r>
                    </a:p>
                  </a:txBody>
                  <a:tcPr>
                    <a:solidFill>
                      <a:srgbClr val="FFFFFF"/>
                    </a:solidFill>
                  </a:tcPr>
                </a:tc>
                <a:tc>
                  <a:txBody>
                    <a:bodyPr anchor="ctr"/>
                    <a:lstStyle/>
                    <a:p>
                      <a:pPr algn="ctr">
                        <a:defRPr sz="1200">
                          <a:solidFill>
                            <a:srgbClr val="1E293B"/>
                          </a:solidFill>
                          <a:latin typeface="Arial"/>
                        </a:defRPr>
                      </a:pPr>
                      <a:r>
                        <a:t>2 - 2.5 giờ/tuần</a:t>
                      </a:r>
                    </a:p>
                  </a:txBody>
                  <a:tcPr>
                    <a:solidFill>
                      <a:srgbClr val="FFFFFF"/>
                    </a:solidFill>
                  </a:tcPr>
                </a:tc>
                <a:tc>
                  <a:txBody>
                    <a:bodyPr anchor="ctr"/>
                    <a:lstStyle/>
                    <a:p>
                      <a:pPr algn="ctr">
                        <a:defRPr sz="1200" b="1">
                          <a:solidFill>
                            <a:srgbClr val="10B981"/>
                          </a:solidFill>
                          <a:latin typeface="Arial"/>
                        </a:defRPr>
                      </a:pPr>
                      <a:r>
                        <a:t>GIẢM 80% THỜI GIAN</a:t>
                      </a:r>
                    </a:p>
                  </a:txBody>
                  <a:tcPr>
                    <a:solidFill>
                      <a:srgbClr val="FFFFFF"/>
                    </a:solidFill>
                  </a:tcPr>
                </a:tc>
              </a:tr>
              <a:tr h="877824">
                <a:tc>
                  <a:txBody>
                    <a:bodyPr anchor="ctr"/>
                    <a:lstStyle/>
                    <a:p>
                      <a:pPr algn="l">
                        <a:defRPr sz="1200" b="1">
                          <a:solidFill>
                            <a:srgbClr val="1E293B"/>
                          </a:solidFill>
                          <a:latin typeface="Arial"/>
                        </a:defRPr>
                      </a:pPr>
                      <a:r>
                        <a:t>Tỷ lệ tiết dạy có học liệu số trực quan:</a:t>
                      </a:r>
                    </a:p>
                  </a:txBody>
                  <a:tcPr>
                    <a:solidFill>
                      <a:srgbClr val="F1F5F9"/>
                    </a:solidFill>
                  </a:tcPr>
                </a:tc>
                <a:tc>
                  <a:txBody>
                    <a:bodyPr anchor="ctr"/>
                    <a:lstStyle/>
                    <a:p>
                      <a:pPr algn="ctr">
                        <a:defRPr sz="1200">
                          <a:solidFill>
                            <a:srgbClr val="1E293B"/>
                          </a:solidFill>
                          <a:latin typeface="Arial"/>
                        </a:defRPr>
                      </a:pPr>
                      <a:r>
                        <a:t>22.5%</a:t>
                      </a:r>
                    </a:p>
                  </a:txBody>
                  <a:tcPr>
                    <a:solidFill>
                      <a:srgbClr val="F1F5F9"/>
                    </a:solidFill>
                  </a:tcPr>
                </a:tc>
                <a:tc>
                  <a:txBody>
                    <a:bodyPr anchor="ctr"/>
                    <a:lstStyle/>
                    <a:p>
                      <a:pPr algn="ctr">
                        <a:defRPr sz="1200">
                          <a:solidFill>
                            <a:srgbClr val="1E293B"/>
                          </a:solidFill>
                          <a:latin typeface="Arial"/>
                        </a:defRPr>
                      </a:pPr>
                      <a:r>
                        <a:t>100%</a:t>
                      </a:r>
                    </a:p>
                  </a:txBody>
                  <a:tcPr>
                    <a:solidFill>
                      <a:srgbClr val="F1F5F9"/>
                    </a:solidFill>
                  </a:tcPr>
                </a:tc>
                <a:tc>
                  <a:txBody>
                    <a:bodyPr anchor="ctr"/>
                    <a:lstStyle/>
                    <a:p>
                      <a:pPr algn="ctr">
                        <a:defRPr sz="1200" b="1">
                          <a:solidFill>
                            <a:srgbClr val="10B981"/>
                          </a:solidFill>
                          <a:latin typeface="Arial"/>
                        </a:defRPr>
                      </a:pPr>
                      <a:r>
                        <a:t>ĐẠT 100% TIẾT DẠY</a:t>
                      </a:r>
                    </a:p>
                  </a:txBody>
                  <a:tcPr>
                    <a:solidFill>
                      <a:srgbClr val="F1F5F9"/>
                    </a:solidFill>
                  </a:tcPr>
                </a:tc>
              </a:tr>
              <a:tr h="877824">
                <a:tc>
                  <a:txBody>
                    <a:bodyPr anchor="ctr"/>
                    <a:lstStyle/>
                    <a:p>
                      <a:pPr algn="l">
                        <a:defRPr sz="1200" b="1">
                          <a:solidFill>
                            <a:srgbClr val="1E293B"/>
                          </a:solidFill>
                          <a:latin typeface="Arial"/>
                        </a:defRPr>
                      </a:pPr>
                      <a:r>
                        <a:t>Mức độ hào hứng &amp; tập trung của trẻ:</a:t>
                      </a:r>
                    </a:p>
                  </a:txBody>
                  <a:tcPr>
                    <a:solidFill>
                      <a:srgbClr val="FFFFFF"/>
                    </a:solidFill>
                  </a:tcPr>
                </a:tc>
                <a:tc>
                  <a:txBody>
                    <a:bodyPr anchor="ctr"/>
                    <a:lstStyle/>
                    <a:p>
                      <a:pPr algn="ctr">
                        <a:defRPr sz="1200">
                          <a:solidFill>
                            <a:srgbClr val="1E293B"/>
                          </a:solidFill>
                          <a:latin typeface="Arial"/>
                        </a:defRPr>
                      </a:pPr>
                      <a:r>
                        <a:t>61.8%</a:t>
                      </a:r>
                    </a:p>
                  </a:txBody>
                  <a:tcPr>
                    <a:solidFill>
                      <a:srgbClr val="FFFFFF"/>
                    </a:solidFill>
                  </a:tcPr>
                </a:tc>
                <a:tc>
                  <a:txBody>
                    <a:bodyPr anchor="ctr"/>
                    <a:lstStyle/>
                    <a:p>
                      <a:pPr algn="ctr">
                        <a:defRPr sz="1200">
                          <a:solidFill>
                            <a:srgbClr val="1E293B"/>
                          </a:solidFill>
                          <a:latin typeface="Arial"/>
                        </a:defRPr>
                      </a:pPr>
                      <a:r>
                        <a:t>95.8%</a:t>
                      </a:r>
                    </a:p>
                  </a:txBody>
                  <a:tcPr>
                    <a:solidFill>
                      <a:srgbClr val="FFFFFF"/>
                    </a:solidFill>
                  </a:tcPr>
                </a:tc>
                <a:tc>
                  <a:txBody>
                    <a:bodyPr anchor="ctr"/>
                    <a:lstStyle/>
                    <a:p>
                      <a:pPr algn="ctr">
                        <a:defRPr sz="1200" b="1">
                          <a:solidFill>
                            <a:srgbClr val="10B981"/>
                          </a:solidFill>
                          <a:latin typeface="Arial"/>
                        </a:defRPr>
                      </a:pPr>
                      <a:r>
                        <a:t>TĂNG 34.0% (VƯỢT TRỘI)</a:t>
                      </a:r>
                    </a:p>
                  </a:txBody>
                  <a:tcPr>
                    <a:solidFill>
                      <a:srgbClr val="FFFFFF"/>
                    </a:solidFill>
                  </a:tcPr>
                </a:tc>
              </a:tr>
              <a:tr h="877824">
                <a:tc>
                  <a:txBody>
                    <a:bodyPr anchor="ctr"/>
                    <a:lstStyle/>
                    <a:p>
                      <a:pPr algn="l">
                        <a:defRPr sz="1200" b="1">
                          <a:solidFill>
                            <a:srgbClr val="1E293B"/>
                          </a:solidFill>
                          <a:latin typeface="Arial"/>
                        </a:defRPr>
                      </a:pPr>
                      <a:r>
                        <a:t>Mức độ hài lòng của giáo viên:</a:t>
                      </a:r>
                    </a:p>
                  </a:txBody>
                  <a:tcPr>
                    <a:solidFill>
                      <a:srgbClr val="F1F5F9"/>
                    </a:solidFill>
                  </a:tcPr>
                </a:tc>
                <a:tc>
                  <a:txBody>
                    <a:bodyPr anchor="ctr"/>
                    <a:lstStyle/>
                    <a:p>
                      <a:pPr algn="ctr">
                        <a:defRPr sz="1200">
                          <a:solidFill>
                            <a:srgbClr val="1E293B"/>
                          </a:solidFill>
                          <a:latin typeface="Arial"/>
                        </a:defRPr>
                      </a:pPr>
                      <a:r>
                        <a:t>42.0%</a:t>
                      </a:r>
                    </a:p>
                  </a:txBody>
                  <a:tcPr>
                    <a:solidFill>
                      <a:srgbClr val="F1F5F9"/>
                    </a:solidFill>
                  </a:tcPr>
                </a:tc>
                <a:tc>
                  <a:txBody>
                    <a:bodyPr anchor="ctr"/>
                    <a:lstStyle/>
                    <a:p>
                      <a:pPr algn="ctr">
                        <a:defRPr sz="1200">
                          <a:solidFill>
                            <a:srgbClr val="1E293B"/>
                          </a:solidFill>
                          <a:latin typeface="Arial"/>
                        </a:defRPr>
                      </a:pPr>
                      <a:r>
                        <a:t>98.2%</a:t>
                      </a:r>
                    </a:p>
                  </a:txBody>
                  <a:tcPr>
                    <a:solidFill>
                      <a:srgbClr val="F1F5F9"/>
                    </a:solidFill>
                  </a:tcPr>
                </a:tc>
                <a:tc>
                  <a:txBody>
                    <a:bodyPr anchor="ctr"/>
                    <a:lstStyle/>
                    <a:p>
                      <a:pPr algn="ctr">
                        <a:defRPr sz="1200" b="1">
                          <a:solidFill>
                            <a:srgbClr val="10B981"/>
                          </a:solidFill>
                          <a:latin typeface="Arial"/>
                        </a:defRPr>
                      </a:pPr>
                      <a:r>
                        <a:t>TĂNG GẤP 2.3 LẦN</a:t>
                      </a:r>
                    </a:p>
                  </a:txBody>
                  <a:tcPr>
                    <a:solidFill>
                      <a:srgbClr val="F1F5F9"/>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00800"/>
            <a:ext cx="12191695" cy="45720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rIns="731520"/>
          <a:lstStyle/>
          <a:p>
            <a:pPr algn="r">
              <a:defRPr sz="1100" b="1">
                <a:solidFill>
                  <a:srgbClr val="FFFFFF"/>
                </a:solidFill>
                <a:latin typeface="Arial"/>
              </a:defRPr>
            </a:pPr>
            <a:r>
              <a:t>Giải Thưởng Tiên Phong Ứng Dụng AI Trong Giáo Dục Việt Nam 2026</a:t>
            </a:r>
          </a:p>
        </p:txBody>
      </p:sp>
      <p:sp>
        <p:nvSpPr>
          <p:cNvPr id="3" name="TextBox 2"/>
          <p:cNvSpPr txBox="1"/>
          <p:nvPr/>
        </p:nvSpPr>
        <p:spPr>
          <a:xfrm>
            <a:off x="731520" y="548640"/>
            <a:ext cx="10728655" cy="914400"/>
          </a:xfrm>
          <a:prstGeom prst="rect">
            <a:avLst/>
          </a:prstGeom>
          <a:noFill/>
        </p:spPr>
        <p:txBody>
          <a:bodyPr wrap="none">
            <a:spAutoFit/>
          </a:bodyPr>
          <a:lstStyle/>
          <a:p>
            <a:pPr>
              <a:defRPr sz="3000" b="1">
                <a:solidFill>
                  <a:srgbClr val="0A194D"/>
                </a:solidFill>
                <a:latin typeface="Arial"/>
              </a:defRPr>
            </a:pPr>
            <a:r>
              <a:t>TÍNH BỀN VỮNG &amp; KHẢ NĂNG NHÂN RỘNG</a:t>
            </a:r>
          </a:p>
        </p:txBody>
      </p:sp>
      <p:sp>
        <p:nvSpPr>
          <p:cNvPr id="4" name="Rounded Rectangle 3"/>
          <p:cNvSpPr/>
          <p:nvPr/>
        </p:nvSpPr>
        <p:spPr>
          <a:xfrm>
            <a:off x="731520" y="1645920"/>
            <a:ext cx="7772400" cy="128016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37160"/>
          <a:lstStyle/>
          <a:p>
            <a:pPr algn="ctr">
              <a:defRPr sz="1400" b="1">
                <a:solidFill>
                  <a:srgbClr val="0A194D"/>
                </a:solidFill>
                <a:latin typeface="Arial"/>
              </a:defRPr>
            </a:pPr>
            <a:r>
              <a:t>Chi phí vận hành 0 đồng</a:t>
            </a:r>
          </a:p>
          <a:p>
            <a:pPr>
              <a:defRPr sz="1100">
                <a:solidFill>
                  <a:srgbClr val="1E293B"/>
                </a:solidFill>
                <a:latin typeface="Arial"/>
              </a:defRPr>
            </a:pPr>
            <a:r>
              <a:t>Tận dụng tài khoản Canva for Education miễn phí cho giáo viên, phiên bản Google Gemini / Web Speech API miễn phí. Không phát sinh chi phí duy trì máy chủ hay phí bản quyền phần mềm.</a:t>
            </a:r>
          </a:p>
        </p:txBody>
      </p:sp>
      <p:sp>
        <p:nvSpPr>
          <p:cNvPr id="5" name="Rectangle 4"/>
          <p:cNvSpPr/>
          <p:nvPr/>
        </p:nvSpPr>
        <p:spPr>
          <a:xfrm>
            <a:off x="8778240" y="1645920"/>
            <a:ext cx="2681935" cy="1280160"/>
          </a:xfrm>
          <a:prstGeom prst="rect">
            <a:avLst/>
          </a:prstGeom>
          <a:solidFill>
            <a:srgbClr val="E2E8F0"/>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475569"/>
                </a:solidFill>
                <a:latin typeface="Arial"/>
              </a:defRPr>
            </a:pPr>
            <a:r>
              <a:t>[Ảnh minh họa: Chi phí vận hành 0 đồng]</a:t>
            </a:r>
          </a:p>
        </p:txBody>
      </p:sp>
      <p:sp>
        <p:nvSpPr>
          <p:cNvPr id="6" name="Rounded Rectangle 5"/>
          <p:cNvSpPr/>
          <p:nvPr/>
        </p:nvSpPr>
        <p:spPr>
          <a:xfrm>
            <a:off x="731520" y="3108960"/>
            <a:ext cx="7772400" cy="128016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37160"/>
          <a:lstStyle/>
          <a:p>
            <a:pPr algn="ctr">
              <a:defRPr sz="1400" b="1">
                <a:solidFill>
                  <a:srgbClr val="0A194D"/>
                </a:solidFill>
                <a:latin typeface="Arial"/>
              </a:defRPr>
            </a:pPr>
            <a:r>
              <a:t>Không cần máy móc chuyên dụng</a:t>
            </a:r>
          </a:p>
          <a:p>
            <a:pPr>
              <a:defRPr sz="1100">
                <a:solidFill>
                  <a:srgbClr val="1E293B"/>
                </a:solidFill>
                <a:latin typeface="Arial"/>
              </a:defRPr>
            </a:pPr>
            <a:r>
              <a:t>Hoạt động trơn tru trên smartphone cá nhân của cô giáo, máy tính bảng hoặc máy tính để bàn sẵn có của trường mầm non. Giao diện Web App nhẹ nhàng, chạy cả offline trong mạng LAN.</a:t>
            </a:r>
          </a:p>
        </p:txBody>
      </p:sp>
      <p:sp>
        <p:nvSpPr>
          <p:cNvPr id="7" name="Rectangle 6"/>
          <p:cNvSpPr/>
          <p:nvPr/>
        </p:nvSpPr>
        <p:spPr>
          <a:xfrm>
            <a:off x="8778240" y="3108960"/>
            <a:ext cx="2681935" cy="1280160"/>
          </a:xfrm>
          <a:prstGeom prst="rect">
            <a:avLst/>
          </a:prstGeom>
          <a:solidFill>
            <a:srgbClr val="E2E8F0"/>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475569"/>
                </a:solidFill>
                <a:latin typeface="Arial"/>
              </a:defRPr>
            </a:pPr>
            <a:r>
              <a:t>[Ảnh minh họa: Không cần máy móc chuyên dụng]</a:t>
            </a:r>
          </a:p>
        </p:txBody>
      </p:sp>
      <p:sp>
        <p:nvSpPr>
          <p:cNvPr id="8" name="Rounded Rectangle 7"/>
          <p:cNvSpPr/>
          <p:nvPr/>
        </p:nvSpPr>
        <p:spPr>
          <a:xfrm>
            <a:off x="731520" y="4572000"/>
            <a:ext cx="7772400" cy="128016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37160"/>
          <a:lstStyle/>
          <a:p>
            <a:pPr algn="ctr">
              <a:defRPr sz="1400" b="1">
                <a:solidFill>
                  <a:srgbClr val="0A194D"/>
                </a:solidFill>
                <a:latin typeface="Arial"/>
              </a:defRPr>
            </a:pPr>
            <a:r>
              <a:t>Khả năng nhân rộng cao</a:t>
            </a:r>
          </a:p>
          <a:p>
            <a:pPr>
              <a:defRPr sz="1100">
                <a:solidFill>
                  <a:srgbClr val="1E293B"/>
                </a:solidFill>
                <a:latin typeface="Arial"/>
              </a:defRPr>
            </a:pPr>
            <a:r>
              <a:t>Đã đóng gói thành 'Sổ tay 3 bước ứng dụng AI', tập huấn 30 phút là giáo viên mọi độ tuổi đều làm chủ được; dễ dàng chuyển giao cho 100% các trường mầm non bạn.</a:t>
            </a:r>
          </a:p>
        </p:txBody>
      </p:sp>
      <p:sp>
        <p:nvSpPr>
          <p:cNvPr id="9" name="Rectangle 8"/>
          <p:cNvSpPr/>
          <p:nvPr/>
        </p:nvSpPr>
        <p:spPr>
          <a:xfrm>
            <a:off x="8778240" y="4572000"/>
            <a:ext cx="2681935" cy="1280160"/>
          </a:xfrm>
          <a:prstGeom prst="rect">
            <a:avLst/>
          </a:prstGeom>
          <a:solidFill>
            <a:srgbClr val="E2E8F0"/>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475569"/>
                </a:solidFill>
                <a:latin typeface="Arial"/>
              </a:defRPr>
            </a:pPr>
            <a:r>
              <a:t>[Ảnh minh họa: Khả năng nhân rộng cao]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00800"/>
            <a:ext cx="12191695" cy="45720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rIns="731520"/>
          <a:lstStyle/>
          <a:p>
            <a:pPr algn="r">
              <a:defRPr sz="1100" b="1">
                <a:solidFill>
                  <a:srgbClr val="FFFFFF"/>
                </a:solidFill>
                <a:latin typeface="Arial"/>
              </a:defRPr>
            </a:pPr>
            <a:r>
              <a:t>Giải Thưởng Tiên Phong Ứng Dụng AI Trong Giáo Dục Việt Nam 2026</a:t>
            </a:r>
          </a:p>
        </p:txBody>
      </p:sp>
      <p:sp>
        <p:nvSpPr>
          <p:cNvPr id="3" name="TextBox 2"/>
          <p:cNvSpPr txBox="1"/>
          <p:nvPr/>
        </p:nvSpPr>
        <p:spPr>
          <a:xfrm>
            <a:off x="731520" y="548640"/>
            <a:ext cx="10728655" cy="914400"/>
          </a:xfrm>
          <a:prstGeom prst="rect">
            <a:avLst/>
          </a:prstGeom>
          <a:noFill/>
        </p:spPr>
        <p:txBody>
          <a:bodyPr wrap="none">
            <a:spAutoFit/>
          </a:bodyPr>
          <a:lstStyle/>
          <a:p>
            <a:pPr>
              <a:defRPr sz="3000" b="1">
                <a:solidFill>
                  <a:srgbClr val="0A194D"/>
                </a:solidFill>
                <a:latin typeface="Arial"/>
              </a:defRPr>
            </a:pPr>
            <a:r>
              <a:t>ĐỊNH HƯỚNG PHÁT TRIỂN</a:t>
            </a:r>
          </a:p>
        </p:txBody>
      </p:sp>
      <p:sp>
        <p:nvSpPr>
          <p:cNvPr id="4" name="Rounded Rectangle 3"/>
          <p:cNvSpPr/>
          <p:nvPr/>
        </p:nvSpPr>
        <p:spPr>
          <a:xfrm>
            <a:off x="731520" y="1645920"/>
            <a:ext cx="10728655" cy="128016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37160"/>
          <a:lstStyle/>
          <a:p>
            <a:pPr algn="ctr">
              <a:defRPr sz="1400" b="1">
                <a:solidFill>
                  <a:srgbClr val="0A194D"/>
                </a:solidFill>
                <a:latin typeface="Arial"/>
              </a:defRPr>
            </a:pPr>
            <a:r>
              <a:t>Giai đoạn 1: Chuẩn hóa bộ dữ liệu mẫu theo chủ đề năm học</a:t>
            </a:r>
          </a:p>
          <a:p>
            <a:pPr>
              <a:defRPr sz="1100">
                <a:solidFill>
                  <a:srgbClr val="1E293B"/>
                </a:solidFill>
                <a:latin typeface="Arial"/>
              </a:defRPr>
            </a:pPr>
            <a:r>
              <a:t>Xây dựng ngân hàng 100+ kịch bản bài dạy mẫu và câu lệnh Prompt chuyên biệt cho trọn vẹn 9 chủ đề năm học mầm non (Trường mầm non, Bản thân, Gia đình, Nghề nghiệp, Động vật, Thực vật, Giao thông, Hiện tượng tự nhiên, Quê hương đất nước).</a:t>
            </a:r>
          </a:p>
        </p:txBody>
      </p:sp>
      <p:sp>
        <p:nvSpPr>
          <p:cNvPr id="5" name="Rounded Rectangle 4"/>
          <p:cNvSpPr/>
          <p:nvPr/>
        </p:nvSpPr>
        <p:spPr>
          <a:xfrm>
            <a:off x="731520" y="3108960"/>
            <a:ext cx="10728655" cy="128016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37160"/>
          <a:lstStyle/>
          <a:p>
            <a:pPr algn="ctr">
              <a:defRPr sz="1400" b="1">
                <a:solidFill>
                  <a:srgbClr val="0A194D"/>
                </a:solidFill>
                <a:latin typeface="Arial"/>
              </a:defRPr>
            </a:pPr>
            <a:r>
              <a:t>Giai đoạn 2: Tích hợp Trợ lý tư vấn dinh dưỡng và chăm sóc sức khỏe</a:t>
            </a:r>
          </a:p>
          <a:p>
            <a:pPr>
              <a:defRPr sz="1100">
                <a:solidFill>
                  <a:srgbClr val="1E293B"/>
                </a:solidFill>
                <a:latin typeface="Arial"/>
              </a:defRPr>
            </a:pPr>
            <a:r>
              <a:t>Phát triển thêm mô hình AI tính toán khẩu phần ăn, cân đối calo theo chuẩn Viện Dinh dưỡng; kết nối biểu đồ tăng trưởng (chiều cao, cân nặng, chỉ số BMI), tự động cảnh báo và tư vấn thực đơn cho cha mẹ.</a:t>
            </a:r>
          </a:p>
        </p:txBody>
      </p:sp>
      <p:sp>
        <p:nvSpPr>
          <p:cNvPr id="6" name="Rounded Rectangle 5"/>
          <p:cNvSpPr/>
          <p:nvPr/>
        </p:nvSpPr>
        <p:spPr>
          <a:xfrm>
            <a:off x="731520" y="4572000"/>
            <a:ext cx="10728655" cy="128016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137160"/>
          <a:lstStyle/>
          <a:p>
            <a:pPr algn="ctr">
              <a:defRPr sz="1400" b="1">
                <a:solidFill>
                  <a:srgbClr val="0A194D"/>
                </a:solidFill>
                <a:latin typeface="Arial"/>
              </a:defRPr>
            </a:pPr>
            <a:r>
              <a:t>Giai đoạn 3: Chuyển giao và xây dựng nền tảng dùng chung</a:t>
            </a:r>
          </a:p>
          <a:p>
            <a:pPr>
              <a:defRPr sz="1100">
                <a:solidFill>
                  <a:srgbClr val="1E293B"/>
                </a:solidFill>
                <a:latin typeface="Arial"/>
              </a:defRPr>
            </a:pPr>
            <a:r>
              <a:t>Nhân rộng giải pháp đến 100% trường mầm non trên địa bàn huyện Tân Yên và tỉnh Bắc Giang; tổ chức các buổi hội thảo tập huấn chuyên đề chia sẻ kinh nghiệm ứng dụng AI nhân văn trong GDMN trên toàn quốc.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00800"/>
            <a:ext cx="12191695" cy="45720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rIns="731520"/>
          <a:lstStyle/>
          <a:p>
            <a:pPr algn="r">
              <a:defRPr sz="1100" b="1">
                <a:solidFill>
                  <a:srgbClr val="FFFFFF"/>
                </a:solidFill>
                <a:latin typeface="Arial"/>
              </a:defRPr>
            </a:pPr>
            <a:r>
              <a:t>Giải Thưởng Tiên Phong Ứng Dụng AI Trong Giáo Dục Việt Nam 2026</a:t>
            </a:r>
          </a:p>
        </p:txBody>
      </p:sp>
      <p:sp>
        <p:nvSpPr>
          <p:cNvPr id="3" name="TextBox 2"/>
          <p:cNvSpPr txBox="1"/>
          <p:nvPr/>
        </p:nvSpPr>
        <p:spPr>
          <a:xfrm>
            <a:off x="731520" y="548640"/>
            <a:ext cx="10728655" cy="914400"/>
          </a:xfrm>
          <a:prstGeom prst="rect">
            <a:avLst/>
          </a:prstGeom>
          <a:noFill/>
        </p:spPr>
        <p:txBody>
          <a:bodyPr wrap="none">
            <a:spAutoFit/>
          </a:bodyPr>
          <a:lstStyle/>
          <a:p>
            <a:pPr>
              <a:defRPr sz="3000" b="1">
                <a:solidFill>
                  <a:srgbClr val="0A194D"/>
                </a:solidFill>
                <a:latin typeface="Arial"/>
              </a:defRPr>
            </a:pPr>
            <a:r>
              <a:t>TÀI LIỆU/THÔNG TIN ĐÍNH KÈM (NẾU CÓ)</a:t>
            </a:r>
          </a:p>
        </p:txBody>
      </p:sp>
      <p:sp>
        <p:nvSpPr>
          <p:cNvPr id="4" name="Rounded Rectangle 3"/>
          <p:cNvSpPr/>
          <p:nvPr/>
        </p:nvSpPr>
        <p:spPr>
          <a:xfrm>
            <a:off x="731520" y="1645920"/>
            <a:ext cx="10728655" cy="4389120"/>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274320"/>
          <a:lstStyle/>
          <a:p>
            <a:pPr algn="ctr">
              <a:defRPr sz="1200" b="1">
                <a:solidFill>
                  <a:srgbClr val="1E293B"/>
                </a:solidFill>
                <a:latin typeface="Arial"/>
              </a:defRPr>
            </a:pPr>
            <a:r>
              <a:t>• Trải nghiệm trực tiếp ứng dụng KID-LESSON AI:</a:t>
            </a:r>
            <a:br/>
            <a:r>
              <a:t>   https://tinyurl.com/kid-lesson-ai-app (Web App &amp; QR Code truy cập tức thì)</a:t>
            </a:r>
          </a:p>
          <a:p>
            <a:pPr>
              <a:defRPr sz="1200" b="1">
                <a:solidFill>
                  <a:srgbClr val="1E293B"/>
                </a:solidFill>
                <a:latin typeface="Arial"/>
              </a:defRPr>
            </a:pPr>
            <a:r>
              <a:t>• Thư mục Google Drive chứa hồ sơ thuyết minh dự án:</a:t>
            </a:r>
            <a:br/>
            <a:r>
              <a:t>   https://tinyurl.com/kid-lesson-ai-drive (File Word Kế hoạch 26 trang, 10 giáo án mẫu, Bảng số liệu thực nghiệm)</a:t>
            </a:r>
          </a:p>
          <a:p>
            <a:pPr>
              <a:defRPr sz="1200" b="1">
                <a:solidFill>
                  <a:srgbClr val="1E293B"/>
                </a:solidFill>
                <a:latin typeface="Arial"/>
              </a:defRPr>
            </a:pPr>
            <a:r>
              <a:t>• Video 5 phút thuyết minh sáng kiến sư phạm (YouTube):</a:t>
            </a:r>
            <a:br/>
            <a:r>
              <a:t>   https://tinyurl.com/kid-lesson-ai-video5m (Video quay lại hoạt động thực tế của cô và trẻ tại trường)</a:t>
            </a:r>
          </a:p>
          <a:p>
            <a:pPr>
              <a:defRPr sz="1200" b="1">
                <a:solidFill>
                  <a:srgbClr val="1E293B"/>
                </a:solidFill>
                <a:latin typeface="Arial"/>
              </a:defRPr>
            </a:pPr>
            <a:r>
              <a:t>• Nguồn tham khảo pháp lý sư phạm:</a:t>
            </a:r>
            <a:br/>
            <a:r>
              <a:t>   Chương trình Giáo dục Mầm non ban hành kèm Thông tư số 51/2020/TT-BGDĐT của Bộ Giáo dục và Đào tạo.</a:t>
            </a:r>
          </a:p>
          <a:p>
            <a:pPr>
              <a:defRPr sz="1200">
                <a:solidFill>
                  <a:srgbClr val="1E293B"/>
                </a:solidFill>
                <a:latin typeface="Arial"/>
              </a:defRPr>
            </a:pPr>
            <a:r>
              <a:t>Lưu ý:</a:t>
            </a:r>
            <a:br/>
            <a:r>
              <a:t>   Tất cả các đường dẫn trên đã được chia sẻ ở chế độ công khai để Ban Giám khảo tiện tra cứu.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4D"/>
          </a:solidFill>
          <a:ln>
            <a:solidFill>
              <a:srgbClr val="0A19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4572000"/>
          </a:xfrm>
          <a:prstGeom prst="rect">
            <a:avLst/>
          </a:prstGeom>
          <a:noFill/>
        </p:spPr>
        <p:txBody>
          <a:bodyPr wrap="square">
            <a:spAutoFit/>
          </a:bodyPr>
          <a:lstStyle/>
          <a:p>
            <a:pPr algn="ctr">
              <a:defRPr sz="1400" b="1">
                <a:solidFill>
                  <a:srgbClr val="93C5FD"/>
                </a:solidFill>
                <a:latin typeface="Arial"/>
              </a:defRPr>
            </a:pPr>
            <a:r>
              <a:t>BỘ GIÁO DỤC VÀ ĐÀO TẠO  •  RMIT UNIVERSITY</a:t>
            </a:r>
          </a:p>
          <a:p>
            <a:pPr algn="ctr">
              <a:defRPr sz="1800" b="1">
                <a:solidFill>
                  <a:srgbClr val="FFFFFF"/>
                </a:solidFill>
                <a:latin typeface="Arial"/>
              </a:defRPr>
            </a:pPr>
            <a:r>
              <a:t>NGÀY HỘI NHÀ GIÁO SÁNG TẠO VỚI CÔNG NGHỆ SỐ VÀ TRÍ TUỆ NHÂN TẠO</a:t>
            </a:r>
            <a:br/>
            <a:r>
              <a:t>Giải thưởng Tiên phong Ứng dụng AI trong Giáo dục Việt Nam 2026</a:t>
            </a:r>
          </a:p>
          <a:p>
            <a:br/>
            <a:pPr algn="ctr">
              <a:defRPr sz="1400" i="1">
                <a:solidFill>
                  <a:srgbClr val="E2E8F0"/>
                </a:solidFill>
                <a:latin typeface="Arial"/>
              </a:defRPr>
            </a:pPr>
            <a:r>
              <a:t>"Trí tuệ nhân tạo không sinh ra để thay thế người thầy, mà để giải phóng người thầy khỏi áp lực sổ sách cơ học — trao quyền để cô giáo dành trọn tình yêu thương và sự sáng tạo cho từng mầm non tương lai!"</a:t>
            </a:r>
          </a:p>
          <a:p>
            <a:br/>
            <a:br/>
            <a:pPr algn="ctr">
              <a:defRPr sz="2200" b="1">
                <a:solidFill>
                  <a:srgbClr val="F59E0B"/>
                </a:solidFill>
                <a:latin typeface="Arial"/>
              </a:defRPr>
            </a:pPr>
            <a:r>
              <a:t>TRÂN TRỌNG CẢM ƠN BAN GIÁM KHẢO VÀ QUÝ THẦY CÔ!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