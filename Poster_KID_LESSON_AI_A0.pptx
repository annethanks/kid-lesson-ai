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7540000" cy="3114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540000" cy="31140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0000" y="432000"/>
            <a:ext cx="26460000" cy="4031999"/>
          </a:xfrm>
          <a:prstGeom prst="roundRect">
            <a:avLst/>
          </a:prstGeom>
          <a:solidFill>
            <a:srgbClr val="1E1B4B"/>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432000" rIns="432000"/>
          <a:lstStyle/>
          <a:p>
            <a:pPr algn="ctr">
              <a:spcAft>
                <a:spcPts val="300"/>
              </a:spcAft>
              <a:defRPr sz="1300" b="1">
                <a:solidFill>
                  <a:srgbClr val="F59E0B"/>
                </a:solidFill>
                <a:latin typeface="Arial"/>
              </a:defRPr>
            </a:pPr>
            <a:r>
              <a:t>DIỄN ĐÀN ĐỔI MỚI SÁNG TẠO GIÁO DỤC VIỆT NAM VỚI TRÍ TUỆ NHÂN TẠO • GIẢI THƯỞNG TIÊN PHONG ỨNG DỤNG AI TRONG GIÁO DỤC VIỆT NAM 2026</a:t>
            </a:r>
          </a:p>
          <a:p>
            <a:pPr algn="ctr">
              <a:spcAft>
                <a:spcPts val="400"/>
              </a:spcAft>
              <a:defRPr sz="2100" b="1">
                <a:solidFill>
                  <a:srgbClr val="FFFFFF"/>
                </a:solidFill>
                <a:latin typeface="Arial"/>
              </a:defRPr>
            </a:pPr>
            <a:r>
              <a:t>KID-LESSON AI</a:t>
            </a:r>
            <a:br/>
            <a:r>
              <a:t>HỆ THỐNG TRỢ LÝ TRÍ TUỆ NHÂN TẠO TẠO SINH TRONG XÂY DỰNG KẾ HOẠCH BÀI DẠY (GIÁO ÁN) ĐIỆN TỬ VÀ KHO HỌC LIỆU SỐ ĐA PHƯƠNG TIỆN CHO GIÁO VIÊN MẦM NON</a:t>
            </a:r>
          </a:p>
          <a:p>
            <a:pPr algn="ctr">
              <a:spcAft>
                <a:spcPts val="300"/>
              </a:spcAft>
              <a:defRPr sz="1300" b="1">
                <a:solidFill>
                  <a:srgbClr val="A5B4FC"/>
                </a:solidFill>
                <a:latin typeface="Arial"/>
              </a:defRPr>
            </a:pPr>
            <a:r>
              <a:t>★ GIẢI PHÓNG SỨC LAO ĐỘNG NHÀ GIÁO - KHƠI NGUỒN SÁNG TẠO BÀI GIẢNG MẦM NON CÙNG AI ★</a:t>
            </a:r>
          </a:p>
          <a:p>
            <a:pPr algn="ctr">
              <a:defRPr sz="1150">
                <a:solidFill>
                  <a:srgbClr val="E2E8F0"/>
                </a:solidFill>
                <a:latin typeface="Arial"/>
              </a:defRPr>
            </a:pPr>
            <a:r>
              <a:t>Giáo viên thực hiện: Nguyễn Thị Tiên  |  Đơn vị: Trường Mầm non Phúc Sơn B (Thôn Đồng Mít, xã Phúc Sơn, TP. Hà Nội)  |  Email: tienmamnondongtam@gmail.com</a:t>
            </a:r>
          </a:p>
        </p:txBody>
      </p:sp>
      <p:sp>
        <p:nvSpPr>
          <p:cNvPr id="4" name="Rounded Rectangle 3"/>
          <p:cNvSpPr/>
          <p:nvPr/>
        </p:nvSpPr>
        <p:spPr>
          <a:xfrm>
            <a:off x="540000" y="4680000"/>
            <a:ext cx="8424000" cy="23940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4000" rIns="324000" tIns="324000"/>
          <a:lstStyle/>
          <a:p>
            <a:pPr algn="ctr">
              <a:spcAft>
                <a:spcPts val="800"/>
              </a:spcAft>
              <a:defRPr sz="1400" b="1">
                <a:solidFill>
                  <a:srgbClr val="4338CA"/>
                </a:solidFill>
                <a:latin typeface="Arial"/>
              </a:defRPr>
            </a:pPr>
            <a:r>
              <a:t>MỤC TIÊU, BỐI CẢNH &amp; Ý TƯỞNG GIẢI PHÁP</a:t>
            </a:r>
          </a:p>
          <a:p>
            <a:pPr>
              <a:spcAft>
                <a:spcPts val="400"/>
              </a:spcAft>
            </a:pPr>
            <a:r>
              <a:rPr b="1" sz="1000">
                <a:solidFill>
                  <a:srgbClr val="0284C7"/>
                </a:solidFill>
                <a:latin typeface="Arial"/>
              </a:rPr>
              <a:t>MỤC TIÊU TRỌNG TÂM &amp; PHÁP LÝ (Trang 3):</a:t>
            </a:r>
          </a:p>
          <a:p>
            <a:pPr>
              <a:spcAft>
                <a:spcPts val="400"/>
              </a:spcAft>
            </a:pPr>
            <a:r>
              <a:rPr b="1" sz="1000">
                <a:solidFill>
                  <a:srgbClr val="0284C7"/>
                </a:solidFill>
                <a:latin typeface="Arial"/>
              </a:rPr>
              <a:t>• Mục tiêu trọng tâm:</a:t>
            </a:r>
            <a:r>
              <a:rPr sz="950">
                <a:solidFill>
                  <a:srgbClr val="0F172A"/>
                </a:solidFill>
                <a:latin typeface="Arial"/>
              </a:rPr>
              <a:t> Tự động hóa 80% quy trình soạn giáo án &amp; sản xuất học liệu số (thơ, câu đố, ảnh hoạt họa, trò chơi tương tác).</a:t>
            </a:r>
          </a:p>
          <a:p>
            <a:pPr>
              <a:spcAft>
                <a:spcPts val="400"/>
              </a:spcAft>
            </a:pPr>
            <a:r>
              <a:rPr b="1" sz="1000">
                <a:solidFill>
                  <a:srgbClr val="0284C7"/>
                </a:solidFill>
                <a:latin typeface="Arial"/>
              </a:rPr>
              <a:t>• Tính sư phạm pháp lý:</a:t>
            </a:r>
            <a:r>
              <a:rPr sz="950">
                <a:solidFill>
                  <a:srgbClr val="0F172A"/>
                </a:solidFill>
                <a:latin typeface="Arial"/>
              </a:rPr>
              <a:t> Chuẩn 100% Chương trình GDMN ban hành kèm Thông tư 51/2020/TT-BGDĐT của Bộ GD&amp;ĐT.</a:t>
            </a:r>
          </a:p>
          <a:p>
            <a:pPr>
              <a:spcAft>
                <a:spcPts val="400"/>
              </a:spcAft>
            </a:pPr>
            <a:r>
              <a:rPr b="1" sz="1000">
                <a:solidFill>
                  <a:srgbClr val="0284C7"/>
                </a:solidFill>
                <a:latin typeface="Arial"/>
              </a:rPr>
              <a:t>• Thông điệp cốt lõi:</a:t>
            </a:r>
            <a:r>
              <a:rPr sz="950">
                <a:solidFill>
                  <a:srgbClr val="0F172A"/>
                </a:solidFill>
                <a:latin typeface="Arial"/>
              </a:rPr>
              <a:t> AI không thay thế người thầy, mà trao quyền cho cô giáo dành trọn thời gian chăm sóc, giáo dục trẻ.</a:t>
            </a:r>
          </a:p>
          <a:p>
            <a:pPr>
              <a:spcAft>
                <a:spcPts val="400"/>
              </a:spcAft>
            </a:pPr>
            <a:r>
              <a:rPr b="1" sz="1000">
                <a:solidFill>
                  <a:srgbClr val="0284C7"/>
                </a:solidFill>
                <a:latin typeface="Arial"/>
              </a:rPr>
              <a:t>PHẦN 1: BỐI CẢNH VÀ VẤN ĐỀ THỰC TIỄN (Trang 4):</a:t>
            </a:r>
          </a:p>
          <a:p>
            <a:pPr>
              <a:spcAft>
                <a:spcPts val="400"/>
              </a:spcAft>
            </a:pPr>
            <a:r>
              <a:rPr b="1" sz="1000">
                <a:solidFill>
                  <a:srgbClr val="E11D48"/>
                </a:solidFill>
                <a:latin typeface="Arial"/>
              </a:rPr>
              <a:t>• Thách thức 1 (Sổ sách):</a:t>
            </a:r>
            <a:r>
              <a:rPr sz="950">
                <a:solidFill>
                  <a:srgbClr val="0F172A"/>
                </a:solidFill>
                <a:latin typeface="Arial"/>
              </a:rPr>
              <a:t> Theo dõi 25–35 trẻ/ngày theo 5 lĩnh vực; mất 8–12 giờ/tuần ngoài giờ chỉ để ghi chép.</a:t>
            </a:r>
          </a:p>
          <a:p>
            <a:pPr>
              <a:spcAft>
                <a:spcPts val="400"/>
              </a:spcAft>
            </a:pPr>
            <a:r>
              <a:rPr b="1" sz="1000">
                <a:solidFill>
                  <a:srgbClr val="E11D48"/>
                </a:solidFill>
                <a:latin typeface="Arial"/>
              </a:rPr>
              <a:t>• Thách thức 2 (Rập khuôn):</a:t>
            </a:r>
            <a:r>
              <a:rPr sz="950">
                <a:solidFill>
                  <a:srgbClr val="0F172A"/>
                </a:solidFill>
                <a:latin typeface="Arial"/>
              </a:rPr>
              <a:t> Áp lực thời gian khiến nhiều GV sao chép giáo án cũ trên mạng; thiếu sáng tạo, chưa sát thực tế.</a:t>
            </a:r>
          </a:p>
          <a:p>
            <a:pPr>
              <a:spcAft>
                <a:spcPts val="400"/>
              </a:spcAft>
            </a:pPr>
            <a:r>
              <a:rPr b="1" sz="1000">
                <a:solidFill>
                  <a:srgbClr val="E11D48"/>
                </a:solidFill>
                <a:latin typeface="Arial"/>
              </a:rPr>
              <a:t>• Thách thức 3 (Rào cản số):</a:t>
            </a:r>
            <a:r>
              <a:rPr sz="950">
                <a:solidFill>
                  <a:srgbClr val="0F172A"/>
                </a:solidFill>
                <a:latin typeface="Arial"/>
              </a:rPr>
              <a:t> Có đủ thiết bị truyền thống nhưng chuyển sang bài giảng số đa phương tiện Smart TV vẫn là thách thức lớn.</a:t>
            </a:r>
          </a:p>
          <a:p>
            <a:pPr>
              <a:spcAft>
                <a:spcPts val="400"/>
              </a:spcAft>
            </a:pPr>
            <a:r>
              <a:rPr b="1" sz="1000">
                <a:solidFill>
                  <a:srgbClr val="0284C7"/>
                </a:solidFill>
                <a:latin typeface="Arial"/>
              </a:rPr>
              <a:t>PHẦN 2: Ý TƯỞNG VÀ GIẢI PHÁP (3 TRỤ CỘT - Trang 5):</a:t>
            </a:r>
          </a:p>
          <a:p>
            <a:pPr>
              <a:spcAft>
                <a:spcPts val="400"/>
              </a:spcAft>
            </a:pPr>
            <a:r>
              <a:rPr b="1" sz="1000">
                <a:solidFill>
                  <a:srgbClr val="0284C7"/>
                </a:solidFill>
                <a:latin typeface="Arial"/>
              </a:rPr>
              <a:t>★ TRỤ CỘT 1 (Soạn giáo án chuẩn TT 51):</a:t>
            </a:r>
            <a:r>
              <a:rPr sz="950">
                <a:solidFill>
                  <a:srgbClr val="0F172A"/>
                </a:solidFill>
                <a:latin typeface="Arial"/>
              </a:rPr>
              <a:t> Prompt Master bám sát 3 mục tiêu &amp; tiến trình 3 bước; tự động xuất Word trong 30 giây.</a:t>
            </a:r>
          </a:p>
          <a:p>
            <a:pPr>
              <a:spcAft>
                <a:spcPts val="400"/>
              </a:spcAft>
            </a:pPr>
            <a:r>
              <a:rPr b="1" sz="1000">
                <a:solidFill>
                  <a:srgbClr val="0284C7"/>
                </a:solidFill>
                <a:latin typeface="Arial"/>
              </a:rPr>
              <a:t>★ TRỤ CỘT 2 (Slide Canva &amp; Smart TV 0đ):</a:t>
            </a:r>
            <a:r>
              <a:rPr sz="950">
                <a:solidFill>
                  <a:srgbClr val="0F172A"/>
                </a:solidFill>
                <a:latin typeface="Arial"/>
              </a:rPr>
              <a:t> Tự động tạo bộ Slide 16:9 kéo thả Canva 1-click; hỗ trợ trình chiếu offline lớp học trên Smart TV.</a:t>
            </a:r>
          </a:p>
          <a:p>
            <a:pPr>
              <a:spcAft>
                <a:spcPts val="400"/>
              </a:spcAft>
            </a:pPr>
            <a:r>
              <a:rPr b="1" sz="1000">
                <a:solidFill>
                  <a:srgbClr val="0284C7"/>
                </a:solidFill>
                <a:latin typeface="Arial"/>
              </a:rPr>
              <a:t>★ TRỤ CỘT 3 (Word Nghị định 30 &amp; Thư viện):</a:t>
            </a:r>
            <a:r>
              <a:rPr sz="950">
                <a:solidFill>
                  <a:srgbClr val="0F172A"/>
                </a:solidFill>
                <a:latin typeface="Arial"/>
              </a:rPr>
              <a:t> Xuất Word chuẩn quy cách in ấn ký duyệt BGH; lưu trữ thư viện số bảo mật 100% trên máy tính cô giáo.</a:t>
            </a:r>
          </a:p>
        </p:txBody>
      </p:sp>
      <p:sp>
        <p:nvSpPr>
          <p:cNvPr id="5" name="Rounded Rectangle 4"/>
          <p:cNvSpPr/>
          <p:nvPr/>
        </p:nvSpPr>
        <p:spPr>
          <a:xfrm>
            <a:off x="9558000" y="4680000"/>
            <a:ext cx="8424000" cy="23940000"/>
          </a:xfrm>
          <a:prstGeom prst="roundRect">
            <a:avLst/>
          </a:prstGeom>
          <a:solidFill>
            <a:srgbClr val="FFFF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324000" rIns="324000" tIns="324000"/>
          <a:lstStyle/>
          <a:p>
            <a:pPr algn="ctr">
              <a:spcAft>
                <a:spcPts val="800"/>
              </a:spcAft>
              <a:defRPr sz="1400" b="1">
                <a:solidFill>
                  <a:srgbClr val="4338CA"/>
                </a:solidFill>
                <a:latin typeface="Arial"/>
              </a:defRPr>
            </a:pPr>
            <a:r>
              <a:t>TRIỂN KHAI THỰC TẾ &amp; TÍNH BỀN VỮNG</a:t>
            </a:r>
          </a:p>
          <a:p>
            <a:pPr>
              <a:spcAft>
                <a:spcPts val="400"/>
              </a:spcAft>
            </a:pPr>
            <a:r>
              <a:rPr b="1" sz="1000">
                <a:solidFill>
                  <a:srgbClr val="0284C7"/>
                </a:solidFill>
                <a:latin typeface="Arial"/>
              </a:rPr>
              <a:t>PHẦN 3: TRIỂN KHAI THỰC TẾ (Trang 6):</a:t>
            </a:r>
          </a:p>
          <a:p>
            <a:pPr>
              <a:spcAft>
                <a:spcPts val="400"/>
              </a:spcAft>
            </a:pPr>
            <a:r>
              <a:rPr b="1" sz="1000">
                <a:solidFill>
                  <a:srgbClr val="0284C7"/>
                </a:solidFill>
                <a:latin typeface="Arial"/>
              </a:rPr>
              <a:t>• Địa bàn áp dụng:</a:t>
            </a:r>
            <a:r>
              <a:rPr sz="950">
                <a:solidFill>
                  <a:srgbClr val="0F172A"/>
                </a:solidFill>
                <a:latin typeface="Arial"/>
              </a:rPr>
              <a:t> Trường Mầm non Phúc Sơn B, Xã Phúc Sơn, TP. Hà Nội.</a:t>
            </a:r>
          </a:p>
          <a:p>
            <a:pPr>
              <a:spcAft>
                <a:spcPts val="400"/>
              </a:spcAft>
            </a:pPr>
            <a:r>
              <a:rPr b="1" sz="1000">
                <a:solidFill>
                  <a:srgbClr val="0284C7"/>
                </a:solidFill>
                <a:latin typeface="Arial"/>
              </a:rPr>
              <a:t>• 4 Khối lớp thực nghiệm:</a:t>
            </a:r>
            <a:r>
              <a:rPr sz="950">
                <a:solidFill>
                  <a:srgbClr val="0F172A"/>
                </a:solidFill>
                <a:latin typeface="Arial"/>
              </a:rPr>
              <a:t> Nhà trẻ (24–36th), MG bé (3–4t), MG nhỡ (4–5t), MG lớn (5–6t).</a:t>
            </a:r>
          </a:p>
          <a:p>
            <a:pPr>
              <a:spcAft>
                <a:spcPts val="400"/>
              </a:spcAft>
            </a:pPr>
            <a:r>
              <a:rPr b="1" sz="1000">
                <a:solidFill>
                  <a:srgbClr val="0284C7"/>
                </a:solidFill>
                <a:latin typeface="Arial"/>
              </a:rPr>
              <a:t>• Quy mô tham gia:</a:t>
            </a:r>
            <a:r>
              <a:rPr sz="950">
                <a:solidFill>
                  <a:srgbClr val="0F172A"/>
                </a:solidFill>
                <a:latin typeface="Arial"/>
              </a:rPr>
              <a:t> Hơn 100 trẻ mầm non tham gia theo dõi thực nghiệm.</a:t>
            </a:r>
          </a:p>
          <a:p>
            <a:pPr>
              <a:spcAft>
                <a:spcPts val="400"/>
              </a:spcAft>
            </a:pPr>
            <a:r>
              <a:rPr b="1" sz="1000">
                <a:solidFill>
                  <a:srgbClr val="0284C7"/>
                </a:solidFill>
                <a:latin typeface="Arial"/>
              </a:rPr>
              <a:t>• Thiết bị sử dụng:</a:t>
            </a:r>
            <a:r>
              <a:rPr sz="950">
                <a:solidFill>
                  <a:srgbClr val="0F172A"/>
                </a:solidFill>
                <a:latin typeface="Arial"/>
              </a:rPr>
              <a:t> Điện thoại GV, máy tính lớp học, Smart TV internet sẵn có.</a:t>
            </a:r>
          </a:p>
          <a:p>
            <a:pPr>
              <a:spcAft>
                <a:spcPts val="400"/>
              </a:spcAft>
            </a:pPr>
            <a:r>
              <a:rPr b="1" sz="1000">
                <a:solidFill>
                  <a:srgbClr val="0284C7"/>
                </a:solidFill>
                <a:latin typeface="Arial"/>
              </a:rPr>
              <a:t>PHẦN 5: TÍNH BỀN VỮNG &amp; NHÂN RỘNG (Trang 8):</a:t>
            </a:r>
          </a:p>
          <a:p>
            <a:pPr>
              <a:spcAft>
                <a:spcPts val="400"/>
              </a:spcAft>
            </a:pPr>
            <a:r>
              <a:rPr b="1" sz="1000">
                <a:solidFill>
                  <a:srgbClr val="10B981"/>
                </a:solidFill>
                <a:latin typeface="Arial"/>
              </a:rPr>
              <a:t>✓ Chi phí vận hành 0 đồng:</a:t>
            </a:r>
            <a:r>
              <a:rPr sz="950">
                <a:solidFill>
                  <a:srgbClr val="0F172A"/>
                </a:solidFill>
                <a:latin typeface="Arial"/>
              </a:rPr>
              <a:t> Tận dụng Canva for Education, Google Gemini &amp; Web Speech API miễn phí; không tốn phí bản quyền hay server.</a:t>
            </a:r>
          </a:p>
          <a:p>
            <a:pPr>
              <a:spcAft>
                <a:spcPts val="400"/>
              </a:spcAft>
            </a:pPr>
            <a:r>
              <a:rPr b="1" sz="1000">
                <a:solidFill>
                  <a:srgbClr val="10B981"/>
                </a:solidFill>
                <a:latin typeface="Arial"/>
              </a:rPr>
              <a:t>✓ Khả năng nhân rộng cao:</a:t>
            </a:r>
            <a:r>
              <a:rPr sz="950">
                <a:solidFill>
                  <a:srgbClr val="0F172A"/>
                </a:solidFill>
                <a:latin typeface="Arial"/>
              </a:rPr>
              <a:t> Đóng gói 'Sổ tay 3 bước ứng dụng AI', tập huấn 30 phút là GV mọi độ tuổi làm chủ; sẵn sàng chuyển giao 100% trường bạn.</a:t>
            </a:r>
          </a:p>
          <a:p>
            <a:pPr>
              <a:spcAft>
                <a:spcPts val="400"/>
              </a:spcAft>
            </a:pPr>
            <a:r>
              <a:rPr b="1" sz="1000">
                <a:solidFill>
                  <a:srgbClr val="10B981"/>
                </a:solidFill>
                <a:latin typeface="Arial"/>
              </a:rPr>
              <a:t>✓ Không cần máy móc chuyên dụng:</a:t>
            </a:r>
            <a:r>
              <a:rPr sz="950">
                <a:solidFill>
                  <a:srgbClr val="0F172A"/>
                </a:solidFill>
                <a:latin typeface="Arial"/>
              </a:rPr>
              <a:t> Hoạt động mượt mà trên máy tính, TV sẵn có; Web App nhẹ nhàng, chạy tốt cả offline mạng LAN.</a:t>
            </a:r>
          </a:p>
        </p:txBody>
      </p:sp>
      <p:sp>
        <p:nvSpPr>
          <p:cNvPr id="6" name="Rounded Rectangle 5"/>
          <p:cNvSpPr/>
          <p:nvPr/>
        </p:nvSpPr>
        <p:spPr>
          <a:xfrm>
            <a:off x="18576000" y="4680000"/>
            <a:ext cx="8424000" cy="23940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4000" rIns="324000" tIns="324000"/>
          <a:lstStyle/>
          <a:p>
            <a:pPr algn="ctr">
              <a:spcAft>
                <a:spcPts val="800"/>
              </a:spcAft>
              <a:defRPr sz="1400" b="1">
                <a:solidFill>
                  <a:srgbClr val="10B981"/>
                </a:solidFill>
                <a:latin typeface="Arial"/>
              </a:defRPr>
            </a:pPr>
            <a:r>
              <a:t>KẾT QUẢ TÁC ĐỘNG &amp; ĐỊNH HƯỚNG PHÁT TRIỂN</a:t>
            </a:r>
          </a:p>
          <a:p>
            <a:pPr>
              <a:spcAft>
                <a:spcPts val="400"/>
              </a:spcAft>
            </a:pPr>
            <a:r>
              <a:rPr b="1" sz="1000">
                <a:solidFill>
                  <a:srgbClr val="0284C7"/>
                </a:solidFill>
                <a:latin typeface="Arial"/>
              </a:rPr>
              <a:t>PHẦN 4: KẾT QUẢ VÀ TÁC ĐỘNG NỔI BẬT (Trang 7):</a:t>
            </a:r>
          </a:p>
          <a:p>
            <a:pPr>
              <a:spcAft>
                <a:spcPts val="400"/>
              </a:spcAft>
            </a:pPr>
            <a:r>
              <a:rPr b="1" sz="1000">
                <a:solidFill>
                  <a:srgbClr val="10B981"/>
                </a:solidFill>
                <a:latin typeface="Arial"/>
              </a:rPr>
              <a:t>• Thời gian soạn Kế hoạch bài dạy:</a:t>
            </a:r>
            <a:r>
              <a:rPr sz="950">
                <a:solidFill>
                  <a:srgbClr val="0F172A"/>
                </a:solidFill>
                <a:latin typeface="Arial"/>
              </a:rPr>
              <a:t> 12 - 14 h/tuần ➔ 2 - 2.5 h/tuần [GIẢM 83.3%]</a:t>
            </a:r>
          </a:p>
          <a:p>
            <a:pPr>
              <a:spcAft>
                <a:spcPts val="400"/>
              </a:spcAft>
            </a:pPr>
            <a:r>
              <a:rPr b="1" sz="1000">
                <a:solidFill>
                  <a:srgbClr val="10B981"/>
                </a:solidFill>
                <a:latin typeface="Arial"/>
              </a:rPr>
              <a:t>• Thời gian chuyển Giáo án sang Slide:</a:t>
            </a:r>
            <a:r>
              <a:rPr sz="950">
                <a:solidFill>
                  <a:srgbClr val="0F172A"/>
                </a:solidFill>
                <a:latin typeface="Arial"/>
              </a:rPr>
              <a:t> 45 - 60 phút/bài ➔ 5 - 10 phút/bài [TỰ ĐỘNG HÓA 93%]</a:t>
            </a:r>
          </a:p>
          <a:p>
            <a:pPr>
              <a:spcAft>
                <a:spcPts val="400"/>
              </a:spcAft>
            </a:pPr>
            <a:r>
              <a:rPr b="1" sz="1000">
                <a:solidFill>
                  <a:srgbClr val="10B981"/>
                </a:solidFill>
                <a:latin typeface="Arial"/>
              </a:rPr>
              <a:t>• Tỷ lệ GV trong Tổ làm chủ CN:</a:t>
            </a:r>
            <a:r>
              <a:rPr sz="950">
                <a:solidFill>
                  <a:srgbClr val="0F172A"/>
                </a:solidFill>
                <a:latin typeface="Arial"/>
              </a:rPr>
              <a:t> 0% ➔ 100% [100% TỔ CHUYÊN MÔN]</a:t>
            </a:r>
          </a:p>
          <a:p>
            <a:pPr>
              <a:spcAft>
                <a:spcPts val="400"/>
              </a:spcAft>
            </a:pPr>
            <a:r>
              <a:rPr b="1" sz="1000">
                <a:solidFill>
                  <a:srgbClr val="10B981"/>
                </a:solidFill>
                <a:latin typeface="Arial"/>
              </a:rPr>
              <a:t>• Độ đồng bộ Giáo án &amp; Slide:</a:t>
            </a:r>
            <a:r>
              <a:rPr sz="950">
                <a:solidFill>
                  <a:srgbClr val="0F172A"/>
                </a:solidFill>
                <a:latin typeface="Arial"/>
              </a:rPr>
              <a:t> Rời rạc, thiếu đồng bộ ➔ Đồng bộ tự động [CHUẨN HÓA THỐNG NHẤT]</a:t>
            </a:r>
          </a:p>
          <a:p>
            <a:pPr>
              <a:spcAft>
                <a:spcPts val="400"/>
              </a:spcAft>
            </a:pPr>
            <a:r>
              <a:rPr b="1" sz="1000">
                <a:solidFill>
                  <a:srgbClr val="0284C7"/>
                </a:solidFill>
                <a:latin typeface="Arial"/>
              </a:rPr>
              <a:t>PHẦN 6: ĐỊNH HƯỚNG PHÁT TRIỂN TIẾP THEO (Trang 9):</a:t>
            </a:r>
          </a:p>
          <a:p>
            <a:pPr>
              <a:spcAft>
                <a:spcPts val="400"/>
              </a:spcAft>
            </a:pPr>
            <a:r>
              <a:rPr b="1" sz="1000">
                <a:solidFill>
                  <a:srgbClr val="0284C7"/>
                </a:solidFill>
                <a:latin typeface="Arial"/>
              </a:rPr>
              <a:t>• GĐ 1 (Ngân hàng 100+ Prompt):</a:t>
            </a:r>
            <a:r>
              <a:rPr sz="950">
                <a:solidFill>
                  <a:srgbClr val="0F172A"/>
                </a:solidFill>
                <a:latin typeface="Arial"/>
              </a:rPr>
              <a:t> Chuẩn hóa kịch bản theo 6 chủ đề năm học (Trường MN, Bản thân, Gia đình, Nghề nghiệp, Thực vật, Động vật).</a:t>
            </a:r>
          </a:p>
          <a:p>
            <a:pPr>
              <a:spcAft>
                <a:spcPts val="400"/>
              </a:spcAft>
            </a:pPr>
            <a:r>
              <a:rPr b="1" sz="1000">
                <a:solidFill>
                  <a:srgbClr val="0284C7"/>
                </a:solidFill>
                <a:latin typeface="Arial"/>
              </a:rPr>
              <a:t>• GĐ 2 (Studio Đa phương tiện):</a:t>
            </a:r>
            <a:r>
              <a:rPr sz="950">
                <a:solidFill>
                  <a:srgbClr val="0F172A"/>
                </a:solidFill>
                <a:latin typeface="Arial"/>
              </a:rPr>
              <a:t> Tích hợp video hoạt họa AI 1–2 phút, tự động phối nhạc bài thơ và 5 mini-game tương tác trên Smart TV.</a:t>
            </a:r>
          </a:p>
          <a:p>
            <a:pPr>
              <a:spcAft>
                <a:spcPts val="400"/>
              </a:spcAft>
            </a:pPr>
            <a:r>
              <a:rPr b="1" sz="1000">
                <a:solidFill>
                  <a:srgbClr val="0284C7"/>
                </a:solidFill>
                <a:latin typeface="Arial"/>
              </a:rPr>
              <a:t>• GĐ 3 (Chuyển giao toàn huyện):</a:t>
            </a:r>
            <a:r>
              <a:rPr sz="950">
                <a:solidFill>
                  <a:srgbClr val="0F172A"/>
                </a:solidFill>
                <a:latin typeface="Arial"/>
              </a:rPr>
              <a:t> Nhân rộng tới 100% trường mầm non trong huyện; tổ chức hội thảo chia sẻ ứng dụng AI nhân văn trong GDMN.</a:t>
            </a:r>
          </a:p>
        </p:txBody>
      </p:sp>
      <p:sp>
        <p:nvSpPr>
          <p:cNvPr id="7" name="Rectangle 6"/>
          <p:cNvSpPr/>
          <p:nvPr/>
        </p:nvSpPr>
        <p:spPr>
          <a:xfrm>
            <a:off x="540000" y="28980000"/>
            <a:ext cx="26820000" cy="1728000"/>
          </a:xfrm>
          <a:prstGeom prst="rect">
            <a:avLst/>
          </a:prstGeom>
          <a:solidFill>
            <a:srgbClr val="1E1B4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432000" rIns="1980000"/>
          <a:lstStyle/>
          <a:p>
            <a:pPr algn="ctr">
              <a:defRPr sz="1150" b="1">
                <a:solidFill>
                  <a:srgbClr val="F59E0B"/>
                </a:solidFill>
                <a:latin typeface="Arial"/>
              </a:defRPr>
            </a:pPr>
            <a:r>
              <a:t>TRƯỜNG MẦM NON PHÚC SƠN B  •  THÔN ĐỒNG MÍT, XÃ PHÚC SƠN, TP HÀ NỘI</a:t>
            </a:r>
          </a:p>
          <a:p>
            <a:pPr>
              <a:defRPr sz="1050">
                <a:solidFill>
                  <a:srgbClr val="FFFFFF"/>
                </a:solidFill>
                <a:latin typeface="Arial"/>
              </a:defRPr>
            </a:pPr>
            <a:r>
              <a:t>DIỄN ĐÀN ĐỔI MỚI SÁNG TẠO GIÁO DỤC VIỆT NAM VỚI AI • GIẢI THƯỞNG TIÊN PHONG ỨNG DỤNG AI TRONG GIÁO DỤC VIỆT NAM 2026</a:t>
            </a:r>
          </a:p>
          <a:p>
            <a:pPr>
              <a:defRPr sz="1050">
                <a:solidFill>
                  <a:srgbClr val="E2E8F0"/>
                </a:solidFill>
                <a:latin typeface="Arial"/>
              </a:defRPr>
            </a:pPr>
            <a:r>
              <a:t>🌐 Đường dẫn tới app: https://annethanks.github.io/kid-lesson-ai/  |  📱 Quét mã QR bên cạnh để truy cập trực tiếp ứng dụng</a:t>
            </a:r>
          </a:p>
        </p:txBody>
      </p:sp>
      <p:pic>
        <p:nvPicPr>
          <p:cNvPr id="8" name="Picture 7" descr="QR_Code_KID_LESSON_AI.png"/>
          <p:cNvPicPr>
            <a:picLocks noChangeAspect="1"/>
          </p:cNvPicPr>
          <p:nvPr/>
        </p:nvPicPr>
        <p:blipFill>
          <a:blip r:embed="rId2"/>
          <a:stretch>
            <a:fillRect/>
          </a:stretch>
        </p:blipFill>
        <p:spPr>
          <a:xfrm>
            <a:off x="25560000" y="29052000"/>
            <a:ext cx="1584000" cy="158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