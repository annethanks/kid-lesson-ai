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945600" cy="3291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945600" cy="329184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20482560" cy="3931920"/>
          </a:xfrm>
          <a:prstGeom prst="roundRect">
            <a:avLst/>
          </a:prstGeom>
          <a:solidFill>
            <a:srgbClr val="0F172A"/>
          </a:solidFill>
          <a:ln w="381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/>
          <a:lstStyle/>
          <a:p>
            <a:pPr algn="ctr">
              <a:spcAft>
                <a:spcPts val="800"/>
              </a:spcAft>
              <a:defRPr sz="1400" b="1">
                <a:solidFill>
                  <a:srgbClr val="F59E0B"/>
                </a:solidFill>
                <a:latin typeface="Arial"/>
              </a:defRPr>
            </a:pPr>
            <a:r>
              <a:t>DIỄN ĐÀN ĐỔI MỚI SÁNG TẠO GIÁO DỤC VIỆT NAM VỚI TRÍ TUỆ NHÂN TẠO 2026  •  BỘ GD&amp;ĐT &amp; ĐẠI HỌC RMIT</a:t>
            </a:r>
          </a:p>
          <a:p>
            <a:pPr algn="ctr">
              <a:spcAft>
                <a:spcPts val="800"/>
              </a:spcAft>
              <a:defRPr sz="2600" b="1">
                <a:solidFill>
                  <a:srgbClr val="FFFFFF"/>
                </a:solidFill>
                <a:latin typeface="Arial"/>
              </a:defRPr>
            </a:pPr>
            <a:r>
              <a:t>KID-LESSON AI: HỆ THỐNG TRỢ LÝ TRÍ TUỆ NHÂN TẠO TẠO SINH TRONG XÂY DỰNG</a:t>
            </a:r>
            <a:br/>
            <a:r>
              <a:t>KẾ HOẠCH BÀI DẠY (GIÁO ÁN) ĐIỆN TỬ VÀ KHO HỌC LIỆU SỐ ĐA PHƯƠNG TIỆN</a:t>
            </a:r>
          </a:p>
          <a:p>
            <a:pPr algn="ctr">
              <a:spcAft>
                <a:spcPts val="800"/>
              </a:spcAft>
              <a:defRPr sz="1500">
                <a:solidFill>
                  <a:srgbClr val="0284C7"/>
                </a:solidFill>
                <a:latin typeface="Arial"/>
              </a:defRPr>
            </a:pPr>
            <a:r>
              <a:t>★ GIẢI PHÓNG SỨC LAO ĐỘNG NHÀ GIÁO  •  KHƠI NGUỒN SÁNG TẠO BÀI GIẢNG MẦM NON ★</a:t>
            </a:r>
          </a:p>
          <a:p>
            <a:pPr algn="ctr">
              <a:defRPr sz="1300">
                <a:solidFill>
                  <a:srgbClr val="64748B"/>
                </a:solidFill>
                <a:latin typeface="Arial"/>
              </a:defRPr>
            </a:pPr>
            <a:r>
              <a:t>Đơn vị: Trường Mầm non Phúc Sơn B  |  Tác giả: Giáo viên chủ trì &amp; Tổ Chuyên môn  |  Phân bảng A: Mầm non &amp; Tiểu học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4937760"/>
            <a:ext cx="6583680" cy="27066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spcAft>
                <a:spcPts val="1400"/>
              </a:spcAft>
              <a:defRPr sz="1800" b="1">
                <a:solidFill>
                  <a:srgbClr val="0284C7"/>
                </a:solidFill>
                <a:latin typeface="Arial"/>
              </a:defRPr>
            </a:pPr>
            <a:r>
              <a:t>I. BỐI CẢNH &amp; NỖI ĐAU SƯ PHẠM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1E293B"/>
                </a:solidFill>
                <a:latin typeface="Arial"/>
              </a:rPr>
              <a:t>• Quá tải thời gian soạn bài:</a:t>
            </a:r>
            <a:r>
              <a:rPr sz="1300">
                <a:solidFill>
                  <a:srgbClr val="1E293B"/>
                </a:solidFill>
                <a:latin typeface="Arial"/>
              </a:rPr>
              <a:t> Giáo viên mầm non mất 12-15h mỗi tuần chỉ để gõ 10-15 giáo án chi tiết và tự chuẩn bị đồ dùng dạy học thủ công.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1E293B"/>
                </a:solidFill>
                <a:latin typeface="Arial"/>
              </a:rPr>
              <a:t>• Giáo án rập khuôn, sao chép:</a:t>
            </a:r>
            <a:r>
              <a:rPr sz="1300">
                <a:solidFill>
                  <a:srgbClr val="1E293B"/>
                </a:solidFill>
                <a:latin typeface="Arial"/>
              </a:rPr>
              <a:t> Do áp lực thời gian, nhiều giáo viên phải tải giáo án cũ trên mạng với câu từ sáo rỗng, không phù hợp tâm lý trẻ em địa phương.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1E293B"/>
                </a:solidFill>
                <a:latin typeface="Arial"/>
              </a:rPr>
              <a:t>• Thiếu thốn học liệu trực quan:</a:t>
            </a:r>
            <a:r>
              <a:rPr sz="1300">
                <a:solidFill>
                  <a:srgbClr val="1E293B"/>
                </a:solidFill>
                <a:latin typeface="Arial"/>
              </a:rPr>
              <a:t> Trường mầm non nông thôn thiếu kinh phí mua sắm đồ dùng số; trẻ học thụ động, dễ phân tán chú ý và nhanh chán.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1E293B"/>
                </a:solidFill>
                <a:latin typeface="Arial"/>
              </a:rPr>
              <a:t>• Mục tiêu sáng kiến:</a:t>
            </a:r>
            <a:r>
              <a:rPr sz="1300">
                <a:solidFill>
                  <a:srgbClr val="1E293B"/>
                </a:solidFill>
                <a:latin typeface="Arial"/>
              </a:rPr>
              <a:t> Giảm 80% thời gian soạn bài, cung cấp kho học liệu tranh ảnh và thơ ca 0 đồng, nâng cao chất lượng bài giảng lấy trẻ làm trung tâm.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80960" y="4937760"/>
            <a:ext cx="6583680" cy="270662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spcAft>
                <a:spcPts val="1400"/>
              </a:spcAft>
              <a:defRPr sz="1800" b="1">
                <a:solidFill>
                  <a:srgbClr val="0284C7"/>
                </a:solidFill>
                <a:latin typeface="Arial"/>
              </a:defRPr>
            </a:pPr>
            <a:r>
              <a:t>II. GIẢI PHÁP CÔNG NGHỆ KID-LESSON AI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284C7"/>
                </a:solidFill>
                <a:latin typeface="Arial"/>
              </a:rPr>
              <a:t>★ Phân hệ 1: Soạn Kế hoạch bài dạy 5 bước:</a:t>
            </a:r>
            <a:r>
              <a:rPr sz="1300">
                <a:solidFill>
                  <a:srgbClr val="1E293B"/>
                </a:solidFill>
                <a:latin typeface="Arial"/>
              </a:rPr>
              <a:t> Tự động tạo giáo án chuẩn mực 3 Mục tiêu (Kiến thức - Kỹ năng - Thái độ) và Tiến trình 3 bước lôi cuốn bám sát Thông tư 51/2020/TT-BGDĐT.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284C7"/>
                </a:solidFill>
                <a:latin typeface="Arial"/>
              </a:rPr>
              <a:t>★ Phân hệ 2: Sáng tác Thơ &amp; Câu đố mới:</a:t>
            </a:r>
            <a:r>
              <a:rPr sz="1300">
                <a:solidFill>
                  <a:srgbClr val="1E293B"/>
                </a:solidFill>
                <a:latin typeface="Arial"/>
              </a:rPr>
              <a:t> Sáng tác tức thì các bài thơ 4 chữ, 5 chữ gieo vần vui tươi theo chủ đề và câu đố tư duy giúp tiết học hấp dẫn ngay từ phút đầu tiên.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284C7"/>
                </a:solidFill>
                <a:latin typeface="Arial"/>
              </a:rPr>
              <a:t>★ Phân hệ 3: Tự động hóa Thiết kế Đồ dùng số:</a:t>
            </a:r>
            <a:r>
              <a:rPr sz="1300">
                <a:solidFill>
                  <a:srgbClr val="1E293B"/>
                </a:solidFill>
                <a:latin typeface="Arial"/>
              </a:rPr>
              <a:t> Ứng dụng Prompt AI tạo sinh thẻ tranh Flashcard sắc nét, tranh tô màu và trò chơi tương tác đa điểm chạm trên Canva với chi phí 0 đồng.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0284C7"/>
                </a:solidFill>
                <a:latin typeface="Arial"/>
              </a:rPr>
              <a:t>★ Quy trình 3 bước siêu tốc:</a:t>
            </a:r>
            <a:r>
              <a:rPr sz="1300">
                <a:solidFill>
                  <a:srgbClr val="1E293B"/>
                </a:solidFill>
                <a:latin typeface="Arial"/>
              </a:rPr>
              <a:t> Nhập chủ đề/độ tuổi -&gt; AI sinh trọn bộ bài dạy trong 30 giây -&gt; Giáo viên duyệt và trình chiếu lên màn hình lớp học.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0" y="4937760"/>
            <a:ext cx="6583680" cy="27066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spcAft>
                <a:spcPts val="1400"/>
              </a:spcAft>
              <a:defRPr sz="1800" b="1">
                <a:solidFill>
                  <a:srgbClr val="10B981"/>
                </a:solidFill>
                <a:latin typeface="Arial"/>
              </a:defRPr>
            </a:pPr>
            <a:r>
              <a:t>III. TÁC ĐỘNG THỰC TẾ &amp; NHÂN RỘNG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10B981"/>
                </a:solidFill>
                <a:latin typeface="Arial"/>
              </a:rPr>
              <a:t>✓ Giảm 80% thời gian soạn bài:</a:t>
            </a:r>
            <a:r>
              <a:rPr sz="1300">
                <a:solidFill>
                  <a:srgbClr val="1E293B"/>
                </a:solidFill>
                <a:latin typeface="Arial"/>
              </a:rPr>
              <a:t> Thời gian chuẩn bị bài giảng của giáo viên giảm từ 14h/tuần xuống chỉ còn 2.8h/tuần.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10B981"/>
                </a:solidFill>
                <a:latin typeface="Arial"/>
              </a:rPr>
              <a:t>✓ 100% tiết dạy có học liệu số trực quan:</a:t>
            </a:r>
            <a:r>
              <a:rPr sz="1300">
                <a:solidFill>
                  <a:srgbClr val="1E293B"/>
                </a:solidFill>
                <a:latin typeface="Arial"/>
              </a:rPr>
              <a:t> Trẻ được tiếp cận tranh ảnh sắc nét, thơ ca mới lạ mỗi ngày.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10B981"/>
                </a:solidFill>
                <a:latin typeface="Arial"/>
              </a:rPr>
              <a:t>✓ 95.8% trẻ hào hứng, tập trung:</a:t>
            </a:r>
            <a:r>
              <a:rPr sz="1300">
                <a:solidFill>
                  <a:srgbClr val="1E293B"/>
                </a:solidFill>
                <a:latin typeface="Arial"/>
              </a:rPr>
              <a:t> Tiết học sinh động giúp trẻ phát triển ngôn ngữ và tư duy vượt bậc.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10B981"/>
                </a:solidFill>
                <a:latin typeface="Arial"/>
              </a:rPr>
              <a:t>✓ Chi phí 0 đồng - Nhân rộng dễ dàng:</a:t>
            </a:r>
            <a:r>
              <a:rPr sz="1300">
                <a:solidFill>
                  <a:srgbClr val="1E293B"/>
                </a:solidFill>
                <a:latin typeface="Arial"/>
              </a:rPr>
              <a:t> Vận hành trên phiên bản giáo dục miễn phí của Gemini và Canva; tập huấn 30 phút là giáo viên dùng được ngay.</a:t>
            </a:r>
          </a:p>
          <a:p>
            <a:pPr>
              <a:spcAft>
                <a:spcPts val="1200"/>
              </a:spcAft>
            </a:pPr>
            <a:r>
              <a:rPr b="1" sz="1300">
                <a:solidFill>
                  <a:srgbClr val="10B981"/>
                </a:solidFill>
                <a:latin typeface="Arial"/>
              </a:rPr>
              <a:t>✓ Cam kết Đạo đức AI (Responsible AI):</a:t>
            </a:r>
            <a:r>
              <a:rPr sz="1300">
                <a:solidFill>
                  <a:srgbClr val="1E293B"/>
                </a:solidFill>
                <a:latin typeface="Arial"/>
              </a:rPr>
              <a:t> Thực hiện nguyên tắc Human-in-the-Loop, giáo viên là người duyệt cuối cùng, kiểm soát tuyệt đối an toàn nội dung cho trẻ 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